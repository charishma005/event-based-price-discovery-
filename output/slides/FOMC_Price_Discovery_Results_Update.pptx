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1be666e-0690-9619-fc07-0ec88e7e1bcd}">
          <p14:sldIdLst>
            <p14:sldId id="256"/>
            <p14:sldId id="257"/>
            <p14:sldId id="258"/>
          </p14:sldIdLst>
        </p14:section>
        <p14:section name="Q1 · quote or trade" id="{0e0dd70d-5378-215d-92ae-2ccd3d73f677}">
          <p14:sldIdLst>
            <p14:sldId id="259"/>
            <p14:sldId id="260"/>
            <p14:sldId id="261"/>
          </p14:sldIdLst>
        </p14:section>
        <p14:section name="H4 · liquidity" id="{ae728eb1-4e02-3acc-b00f-193450cc9dc0}">
          <p14:sldIdLst>
            <p14:sldId id="262"/>
            <p14:sldId id="263"/>
            <p14:sldId id="264"/>
            <p14:sldId id="265"/>
            <p14:sldId id="266"/>
          </p14:sldIdLst>
        </p14:section>
        <p14:section name="H3 · forecast dispersion" id="{8f4cca4b-1d03-ee05-8d3d-05fa8384500e}">
          <p14:sldIdLst>
            <p14:sldId id="267"/>
            <p14:sldId id="268"/>
            <p14:sldId id="269"/>
          </p14:sldIdLst>
        </p14:section>
        <p14:section name="H5, H6 and Q3" id="{4546fbf8-7330-9d6a-8bc9-270bd62b4a3d}">
          <p14:sldIdLst>
            <p14:sldId id="270"/>
            <p14:sldId id="271"/>
            <p14:sldId id="272"/>
          </p14:sldIdLst>
        </p14:section>
        <p14:section name="Next steps" id="{88fb0206-88bc-5b50-5894-503f06dd0224}">
          <p14:sldIdLst>
            <p14:sldId id="273"/>
          </p14:sldIdLst>
        </p14:section>
        <p14:section name="Appendix" id="{7e1723a4-babc-9c34-4823-10aa131fbf10}">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02E"/>
                </a:solidFill>
                <a:latin typeface="+mn-lt"/>
              </a:defRPr>
            </a:pPr>
            <a:r>
              <a:rPr sz="1200" b="0" i="0" u="none" strike="noStrike">
                <a:solidFill>
                  <a:srgbClr val="16202E"/>
                </a:solidFill>
                <a:latin typeface="+mn-lt"/>
              </a:rPr>
              <a:t>Touch-depth ratio, final minute ÷ prior three minutes (112 months)</a:t>
            </a:r>
          </a:p>
        </c:rich>
      </c:tx>
      <c:layout/>
      <c:overlay val="0"/>
    </c:title>
    <c:autoTitleDeleted val="0"/>
    <c:plotArea>
      <c:layout/>
      <c:barChart>
        <c:barDir val="col"/>
        <c:grouping val="clustered"/>
        <c:varyColors val="0"/>
        <c:ser>
          <c:idx val="0"/>
          <c:order val="0"/>
          <c:tx>
            <c:strRef>
              <c:f>Sheet1!$B$1</c:f>
              <c:strCache>
                <c:ptCount val="1"/>
                <c:pt idx="0">
                  <c:v>Release mornings</c:v>
                </c:pt>
              </c:strCache>
            </c:strRef>
          </c:tx>
          <c:spPr>
            <a:solidFill>
              <a:srgbClr val="2B5C9E"/>
            </a:solidFill>
            <a:effectLst/>
          </c:spPr>
          <c:invertIfNegative val="0"/>
          <c:dLbls>
            <c:numFmt formatCode="0.00" sourceLinked="0"/>
            <c:txPr>
              <a:bodyPr/>
              <a:lstStyle/>
              <a:p>
                <a:pPr>
                  <a:defRPr b="0" i="0" strike="noStrike" sz="1000" u="none">
                    <a:solidFill>
                      <a:srgbClr val="3A4453"/>
                    </a:solidFill>
                    <a:latin typeface="+mn-lt"/>
                  </a:defRPr>
                </a:pPr>
              </a:p>
            </c:txPr>
            <c:showLegendKey val="0"/>
            <c:showVal val="1"/>
            <c:showCatName val="0"/>
            <c:showSerName val="0"/>
            <c:showPercent val="0"/>
            <c:showBubbleSize val="0"/>
            <c:showLeaderLines val="0"/>
          </c:dLbls>
          <c:cat>
            <c:multiLvlStrRef>
              <c:f>Sheet1!$A$2:$A$4</c:f>
              <c:multiLvlStrCache>
                <c:ptCount val="3"/>
                <c:lvl>
                  <c:pt idx="0">
                    <c:v>ES</c:v>
                  </c:pt>
                  <c:pt idx="1">
                    <c:v>NQ</c:v>
                  </c:pt>
                  <c:pt idx="2">
                    <c:v>ZN</c:v>
                  </c:pt>
                </c:lvl>
              </c:multiLvlStrCache>
            </c:multiLvlStrRef>
          </c:cat>
          <c:val>
            <c:numRef>
              <c:f>Sheet1!$B$2:$B$4</c:f>
              <c:numCache>
                <c:formatCode>General</c:formatCode>
                <c:ptCount val="3"/>
                <c:pt idx="0">
                  <c:v>0.68</c:v>
                </c:pt>
                <c:pt idx="1">
                  <c:v>1.04</c:v>
                </c:pt>
                <c:pt idx="2">
                  <c:v>0.38</c:v>
                </c:pt>
              </c:numCache>
            </c:numRef>
          </c:val>
        </c:ser>
        <c:ser>
          <c:idx val="1"/>
          <c:order val="1"/>
          <c:tx>
            <c:strRef>
              <c:f>Sheet1!$C$1</c:f>
              <c:strCache>
                <c:ptCount val="1"/>
                <c:pt idx="0">
                  <c:v>Control mornings</c:v>
                </c:pt>
              </c:strCache>
            </c:strRef>
          </c:tx>
          <c:spPr>
            <a:solidFill>
              <a:srgbClr val="B5B4B0"/>
            </a:solidFill>
            <a:effectLst/>
          </c:spPr>
          <c:invertIfNegative val="0"/>
          <c:dLbls>
            <c:numFmt formatCode="0.00" sourceLinked="0"/>
            <c:txPr>
              <a:bodyPr/>
              <a:lstStyle/>
              <a:p>
                <a:pPr>
                  <a:defRPr b="0" i="0" strike="noStrike" sz="1000" u="none">
                    <a:solidFill>
                      <a:srgbClr val="3A4453"/>
                    </a:solidFill>
                    <a:latin typeface="+mn-lt"/>
                  </a:defRPr>
                </a:pPr>
              </a:p>
            </c:txPr>
            <c:showLegendKey val="0"/>
            <c:showVal val="1"/>
            <c:showCatName val="0"/>
            <c:showSerName val="0"/>
            <c:showPercent val="0"/>
            <c:showBubbleSize val="0"/>
            <c:showLeaderLines val="0"/>
          </c:dLbls>
          <c:cat>
            <c:multiLvlStrRef>
              <c:f>Sheet1!$A$2:$A$4</c:f>
              <c:multiLvlStrCache>
                <c:ptCount val="3"/>
                <c:lvl>
                  <c:pt idx="0">
                    <c:v>ES</c:v>
                  </c:pt>
                  <c:pt idx="1">
                    <c:v>NQ</c:v>
                  </c:pt>
                  <c:pt idx="2">
                    <c:v>ZN</c:v>
                  </c:pt>
                </c:lvl>
              </c:multiLvlStrCache>
            </c:multiLvlStrRef>
          </c:cat>
          <c:val>
            <c:numRef>
              <c:f>Sheet1!$C$2:$C$4</c:f>
              <c:numCache>
                <c:formatCode>General</c:formatCode>
                <c:ptCount val="3"/>
                <c:pt idx="0">
                  <c:v>0.94</c:v>
                </c:pt>
                <c:pt idx="1">
                  <c:v>1.01</c:v>
                </c:pt>
                <c:pt idx="2">
                  <c:v>0.89</c:v>
                </c:pt>
              </c:numCache>
            </c:numRef>
          </c:val>
        </c:ser>
        <c:dLbls>
          <c:numFmt formatCode="0.00" sourceLinked="0"/>
          <c:txPr>
            <a:bodyPr/>
            <a:lstStyle/>
            <a:p>
              <a:pPr>
                <a:defRPr b="0" i="0" strike="noStrike" sz="1000" u="none">
                  <a:solidFill>
                    <a:srgbClr val="3A445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4C2BE"/>
            </a:solidFill>
            <a:prstDash val="solid"/>
            <a:round/>
          </a:ln>
        </c:spPr>
        <c:txPr>
          <a:bodyPr/>
          <a:lstStyle/>
          <a:p>
            <a:pPr>
              <a:defRPr sz="11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6350" cap="flat">
              <a:solidFill>
                <a:srgbClr val="E3E1DC"/>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472"/>
                </a:solidFill>
                <a:latin typeface="+mn-lt"/>
              </a:defRPr>
            </a:pPr>
            <a:endParaRPr lang="en-US"/>
          </a:p>
        </c:txPr>
        <c:crossAx val="2094734554"/>
        <c:crosses val="autoZero"/>
        <c:crossBetween val="between"/>
        <c:majorUnit val="0.2"/>
      </c:valAx>
      <c:spPr>
        <a:solidFill>
          <a:srgbClr val="FBFAF7"/>
        </a:solidFill>
        <a:ln>
          <a:noFill/>
        </a:ln>
        <a:effectLst/>
      </c:spPr>
    </c:plotArea>
    <c:legend>
      <c:legendPos val="t"/>
      <c:overlay val="0"/>
      <c:txPr>
        <a:bodyPr/>
        <a:lstStyle/>
        <a:p>
          <a:pPr>
            <a:defRPr sz="1050">
              <a:solidFill>
                <a:srgbClr val="3A445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02E"/>
                </a:solidFill>
                <a:latin typeface="+mn-lt"/>
              </a:defRPr>
            </a:pPr>
            <a:r>
              <a:rPr sz="1200" b="0" i="0" u="none" strike="noStrike">
                <a:solidFill>
                  <a:srgbClr val="16202E"/>
                </a:solidFill>
                <a:latin typeface="+mn-lt"/>
              </a:rPr>
              <a:t>FOMC statement: final-minute depth ÷ control days, geometric mean (90 meetings)</a:t>
            </a:r>
          </a:p>
        </c:rich>
      </c:tx>
      <c:layout/>
      <c:overlay val="0"/>
    </c:title>
    <c:autoTitleDeleted val="0"/>
    <c:plotArea>
      <c:layout/>
      <c:barChart>
        <c:barDir val="col"/>
        <c:grouping val="clustered"/>
        <c:varyColors val="0"/>
        <c:ser>
          <c:idx val="0"/>
          <c:order val="0"/>
          <c:tx>
            <c:strRef>
              <c:f>Sheet1!$B$1</c:f>
              <c:strCache>
                <c:ptCount val="1"/>
                <c:pt idx="0">
                  <c:v>ES</c:v>
                </c:pt>
              </c:strCache>
            </c:strRef>
          </c:tx>
          <c:spPr>
            <a:solidFill>
              <a:srgbClr val="2B5C9E"/>
            </a:solidFill>
            <a:effectLst/>
          </c:spPr>
          <c:invertIfNegative val="0"/>
          <c:dLbls>
            <c:numFmt formatCode="0.00" sourceLinked="0"/>
            <c:txPr>
              <a:bodyPr/>
              <a:lstStyle/>
              <a:p>
                <a:pPr>
                  <a:defRPr b="0" i="0" strike="noStrike" sz="900" u="none">
                    <a:solidFill>
                      <a:srgbClr val="3A4453"/>
                    </a:solidFill>
                    <a:latin typeface="+mn-lt"/>
                  </a:defRPr>
                </a:pPr>
              </a:p>
            </c:txPr>
            <c:showLegendKey val="0"/>
            <c:showVal val="1"/>
            <c:showCatName val="0"/>
            <c:showSerName val="0"/>
            <c:showPercent val="0"/>
            <c:showBubbleSize val="0"/>
            <c:showLeaderLines val="0"/>
          </c:dLbls>
          <c:cat>
            <c:multiLvlStrRef>
              <c:f>Sheet1!$A$2:$A$5</c:f>
              <c:multiLvlStrCache>
                <c:ptCount val="4"/>
                <c:lvl>
                  <c:pt idx="0">
                    <c:v>2015–17</c:v>
                  </c:pt>
                  <c:pt idx="1">
                    <c:v>2018–20</c:v>
                  </c:pt>
                  <c:pt idx="2">
                    <c:v>2021–23</c:v>
                  </c:pt>
                  <c:pt idx="3">
                    <c:v>2024–26</c:v>
                  </c:pt>
                </c:lvl>
              </c:multiLvlStrCache>
            </c:multiLvlStrRef>
          </c:cat>
          <c:val>
            <c:numRef>
              <c:f>Sheet1!$B$2:$B$5</c:f>
              <c:numCache>
                <c:formatCode>General</c:formatCode>
                <c:ptCount val="4"/>
                <c:pt idx="0">
                  <c:v>0.19</c:v>
                </c:pt>
                <c:pt idx="1">
                  <c:v>0.32</c:v>
                </c:pt>
                <c:pt idx="2">
                  <c:v>0.26</c:v>
                </c:pt>
                <c:pt idx="3">
                  <c:v>0.41</c:v>
                </c:pt>
              </c:numCache>
            </c:numRef>
          </c:val>
        </c:ser>
        <c:ser>
          <c:idx val="1"/>
          <c:order val="1"/>
          <c:tx>
            <c:strRef>
              <c:f>Sheet1!$C$1</c:f>
              <c:strCache>
                <c:ptCount val="1"/>
                <c:pt idx="0">
                  <c:v>NQ</c:v>
                </c:pt>
              </c:strCache>
            </c:strRef>
          </c:tx>
          <c:spPr>
            <a:solidFill>
              <a:srgbClr val="D98A4A"/>
            </a:solidFill>
            <a:effectLst/>
          </c:spPr>
          <c:invertIfNegative val="0"/>
          <c:dLbls>
            <c:numFmt formatCode="0.00" sourceLinked="0"/>
            <c:txPr>
              <a:bodyPr/>
              <a:lstStyle/>
              <a:p>
                <a:pPr>
                  <a:defRPr b="0" i="0" strike="noStrike" sz="900" u="none">
                    <a:solidFill>
                      <a:srgbClr val="3A4453"/>
                    </a:solidFill>
                    <a:latin typeface="+mn-lt"/>
                  </a:defRPr>
                </a:pPr>
              </a:p>
            </c:txPr>
            <c:showLegendKey val="0"/>
            <c:showVal val="1"/>
            <c:showCatName val="0"/>
            <c:showSerName val="0"/>
            <c:showPercent val="0"/>
            <c:showBubbleSize val="0"/>
            <c:showLeaderLines val="0"/>
          </c:dLbls>
          <c:cat>
            <c:multiLvlStrRef>
              <c:f>Sheet1!$A$2:$A$5</c:f>
              <c:multiLvlStrCache>
                <c:ptCount val="4"/>
                <c:lvl>
                  <c:pt idx="0">
                    <c:v>2015–17</c:v>
                  </c:pt>
                  <c:pt idx="1">
                    <c:v>2018–20</c:v>
                  </c:pt>
                  <c:pt idx="2">
                    <c:v>2021–23</c:v>
                  </c:pt>
                  <c:pt idx="3">
                    <c:v>2024–26</c:v>
                  </c:pt>
                </c:lvl>
              </c:multiLvlStrCache>
            </c:multiLvlStrRef>
          </c:cat>
          <c:val>
            <c:numRef>
              <c:f>Sheet1!$C$2:$C$5</c:f>
              <c:numCache>
                <c:formatCode>General</c:formatCode>
                <c:ptCount val="4"/>
                <c:pt idx="0">
                  <c:v>0.42</c:v>
                </c:pt>
                <c:pt idx="1">
                  <c:v>0.65</c:v>
                </c:pt>
                <c:pt idx="2">
                  <c:v>0.84</c:v>
                </c:pt>
                <c:pt idx="3">
                  <c:v>0.87</c:v>
                </c:pt>
              </c:numCache>
            </c:numRef>
          </c:val>
        </c:ser>
        <c:ser>
          <c:idx val="2"/>
          <c:order val="2"/>
          <c:tx>
            <c:strRef>
              <c:f>Sheet1!$D$1</c:f>
              <c:strCache>
                <c:ptCount val="1"/>
                <c:pt idx="0">
                  <c:v>ZN</c:v>
                </c:pt>
              </c:strCache>
            </c:strRef>
          </c:tx>
          <c:spPr>
            <a:solidFill>
              <a:srgbClr val="16202E"/>
            </a:solidFill>
            <a:effectLst/>
          </c:spPr>
          <c:invertIfNegative val="0"/>
          <c:dLbls>
            <c:numFmt formatCode="0.00" sourceLinked="0"/>
            <c:txPr>
              <a:bodyPr/>
              <a:lstStyle/>
              <a:p>
                <a:pPr>
                  <a:defRPr b="0" i="0" strike="noStrike" sz="900" u="none">
                    <a:solidFill>
                      <a:srgbClr val="3A4453"/>
                    </a:solidFill>
                    <a:latin typeface="+mn-lt"/>
                  </a:defRPr>
                </a:pPr>
              </a:p>
            </c:txPr>
            <c:showLegendKey val="0"/>
            <c:showVal val="1"/>
            <c:showCatName val="0"/>
            <c:showSerName val="0"/>
            <c:showPercent val="0"/>
            <c:showBubbleSize val="0"/>
            <c:showLeaderLines val="0"/>
          </c:dLbls>
          <c:cat>
            <c:multiLvlStrRef>
              <c:f>Sheet1!$A$2:$A$5</c:f>
              <c:multiLvlStrCache>
                <c:ptCount val="4"/>
                <c:lvl>
                  <c:pt idx="0">
                    <c:v>2015–17</c:v>
                  </c:pt>
                  <c:pt idx="1">
                    <c:v>2018–20</c:v>
                  </c:pt>
                  <c:pt idx="2">
                    <c:v>2021–23</c:v>
                  </c:pt>
                  <c:pt idx="3">
                    <c:v>2024–26</c:v>
                  </c:pt>
                </c:lvl>
              </c:multiLvlStrCache>
            </c:multiLvlStrRef>
          </c:cat>
          <c:val>
            <c:numRef>
              <c:f>Sheet1!$D$2:$D$5</c:f>
              <c:numCache>
                <c:formatCode>General</c:formatCode>
                <c:ptCount val="4"/>
                <c:pt idx="0">
                  <c:v>0.07</c:v>
                </c:pt>
                <c:pt idx="1">
                  <c:v>0.11</c:v>
                </c:pt>
                <c:pt idx="2">
                  <c:v>0.07</c:v>
                </c:pt>
                <c:pt idx="3">
                  <c:v>0.07</c:v>
                </c:pt>
              </c:numCache>
            </c:numRef>
          </c:val>
        </c:ser>
        <c:dLbls>
          <c:numFmt formatCode="0.00" sourceLinked="0"/>
          <c:txPr>
            <a:bodyPr/>
            <a:lstStyle/>
            <a:p>
              <a:pPr>
                <a:defRPr b="0" i="0" strike="noStrike" sz="900" u="none">
                  <a:solidFill>
                    <a:srgbClr val="3A445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4C2BE"/>
            </a:solidFill>
            <a:prstDash val="solid"/>
            <a:round/>
          </a:ln>
        </c:spPr>
        <c:txPr>
          <a:bodyPr/>
          <a:lstStyle/>
          <a:p>
            <a:pPr>
              <a:defRPr sz="11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1DC"/>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472"/>
                </a:solidFill>
                <a:latin typeface="+mn-lt"/>
              </a:defRPr>
            </a:pPr>
            <a:endParaRPr lang="en-US"/>
          </a:p>
        </c:txPr>
        <c:crossAx val="2094734554"/>
        <c:crosses val="autoZero"/>
        <c:crossBetween val="between"/>
        <c:majorUnit val="0.2"/>
      </c:valAx>
      <c:spPr>
        <a:solidFill>
          <a:srgbClr val="FBFAF7"/>
        </a:solidFill>
        <a:ln>
          <a:noFill/>
        </a:ln>
        <a:effectLst/>
      </c:spPr>
    </c:plotArea>
    <c:legend>
      <c:legendPos val="t"/>
      <c:overlay val="0"/>
      <c:txPr>
        <a:bodyPr/>
        <a:lstStyle/>
        <a:p>
          <a:pPr>
            <a:defRPr sz="1050">
              <a:solidFill>
                <a:srgbClr val="3A445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02E"/>
                </a:solidFill>
                <a:latin typeface="+mn-lt"/>
              </a:defRPr>
            </a:pPr>
            <a:r>
              <a:rPr sz="1200" b="0" i="0" u="none" strike="noStrike">
                <a:solidFill>
                  <a:srgbClr val="16202E"/>
                </a:solidFill>
                <a:latin typeface="+mn-lt"/>
              </a:rPr>
              <a:t>As NQ's tick shrank, its withdrawal moved from depth to spread</a:t>
            </a:r>
          </a:p>
        </c:rich>
      </c:tx>
      <c:layout/>
      <c:overlay val="0"/>
    </c:title>
    <c:autoTitleDeleted val="0"/>
    <c:plotArea>
      <c:layout/>
      <c:lineChart>
        <c:varyColors val="0"/>
        <c:ser>
          <c:idx val="0"/>
          <c:order val="0"/>
          <c:tx>
            <c:strRef>
              <c:f>Sheet1!$B$1</c:f>
              <c:strCache>
                <c:ptCount val="1"/>
                <c:pt idx="0">
                  <c:v>NQ depth ratio</c:v>
                </c:pt>
              </c:strCache>
            </c:strRef>
          </c:tx>
          <c:spPr>
            <a:solidFill>
              <a:srgbClr val="B85D1C"/>
            </a:solidFill>
            <a:ln w="31750" cap="flat">
              <a:solidFill>
                <a:srgbClr val="B85D1C"/>
              </a:solidFill>
              <a:prstDash val="solid"/>
              <a:round/>
            </a:ln>
            <a:effectLst/>
          </c:spPr>
          <c:invertIfNegative val="0"/>
          <c:dLbls>
            <c:numFmt formatCode="#,##0" sourceLinked="0"/>
            <c:txPr>
              <a:bodyPr/>
              <a:lstStyle/>
              <a:p>
                <a:pPr>
                  <a:defRPr b="0" i="0" strike="noStrike" sz="1000" u="none">
                    <a:solidFill>
                      <a:srgbClr val="3A4453"/>
                    </a:solidFill>
                    <a:latin typeface="+mn-lt"/>
                  </a:defRPr>
                </a:pPr>
              </a:p>
            </c:txPr>
            <c:showLegendKey val="0"/>
            <c:showVal val="0"/>
            <c:showCatName val="0"/>
            <c:showSerName val="0"/>
            <c:showPercent val="0"/>
            <c:showBubbleSize val="0"/>
            <c:showLeaderLines val="0"/>
          </c:dLbls>
          <c:marker>
            <c:symbol val="circle"/>
            <c:size val="7"/>
            <c:spPr>
              <a:solidFill>
                <a:srgbClr val="B85D1C"/>
              </a:solidFill>
              <a:ln w="9525" cap="flat">
                <a:solidFill>
                  <a:srgbClr val="B85D1C"/>
                </a:solidFill>
                <a:prstDash val="solid"/>
                <a:round/>
              </a:ln>
              <a:effectLst/>
            </c:spPr>
          </c:marker>
          <c:cat>
            <c:multiLvlStrRef>
              <c:f>Sheet1!$A$2:$A$5</c:f>
              <c:multiLvlStrCache>
                <c:ptCount val="4"/>
                <c:lvl>
                  <c:pt idx="0">
                    <c:v>2015–17</c:v>
                  </c:pt>
                  <c:pt idx="1">
                    <c:v>2018–20</c:v>
                  </c:pt>
                  <c:pt idx="2">
                    <c:v>2021–23</c:v>
                  </c:pt>
                  <c:pt idx="3">
                    <c:v>2024–26</c:v>
                  </c:pt>
                </c:lvl>
              </c:multiLvlStrCache>
            </c:multiLvlStrRef>
          </c:cat>
          <c:val>
            <c:numRef>
              <c:f>Sheet1!$B$2:$B$5</c:f>
              <c:numCache>
                <c:formatCode>General</c:formatCode>
                <c:ptCount val="4"/>
                <c:pt idx="0">
                  <c:v>0.42</c:v>
                </c:pt>
                <c:pt idx="1">
                  <c:v>0.65</c:v>
                </c:pt>
                <c:pt idx="2">
                  <c:v>0.84</c:v>
                </c:pt>
                <c:pt idx="3">
                  <c:v>0.87</c:v>
                </c:pt>
              </c:numCache>
            </c:numRef>
          </c:val>
          <c:smooth val="0"/>
        </c:ser>
        <c:ser>
          <c:idx val="1"/>
          <c:order val="1"/>
          <c:tx>
            <c:strRef>
              <c:f>Sheet1!$C$1</c:f>
              <c:strCache>
                <c:ptCount val="1"/>
                <c:pt idx="0">
                  <c:v>NQ time at one tick</c:v>
                </c:pt>
              </c:strCache>
            </c:strRef>
          </c:tx>
          <c:spPr>
            <a:solidFill>
              <a:srgbClr val="B5B4B0"/>
            </a:solidFill>
            <a:ln w="31750" cap="flat">
              <a:solidFill>
                <a:srgbClr val="B5B4B0"/>
              </a:solidFill>
              <a:prstDash val="solid"/>
              <a:round/>
            </a:ln>
            <a:effectLst/>
          </c:spPr>
          <c:invertIfNegative val="0"/>
          <c:dLbls>
            <c:numFmt formatCode="#,##0" sourceLinked="0"/>
            <c:txPr>
              <a:bodyPr/>
              <a:lstStyle/>
              <a:p>
                <a:pPr>
                  <a:defRPr b="0" i="0" strike="noStrike" sz="1000" u="none">
                    <a:solidFill>
                      <a:srgbClr val="3A4453"/>
                    </a:solidFill>
                    <a:latin typeface="+mn-lt"/>
                  </a:defRPr>
                </a:pPr>
              </a:p>
            </c:txPr>
            <c:showLegendKey val="0"/>
            <c:showVal val="0"/>
            <c:showCatName val="0"/>
            <c:showSerName val="0"/>
            <c:showPercent val="0"/>
            <c:showBubbleSize val="0"/>
            <c:showLeaderLines val="0"/>
          </c:dLbls>
          <c:marker>
            <c:symbol val="circle"/>
            <c:size val="7"/>
            <c:spPr>
              <a:solidFill>
                <a:srgbClr val="B5B4B0"/>
              </a:solidFill>
              <a:ln w="9525" cap="flat">
                <a:solidFill>
                  <a:srgbClr val="B5B4B0"/>
                </a:solidFill>
                <a:prstDash val="solid"/>
                <a:round/>
              </a:ln>
              <a:effectLst/>
            </c:spPr>
          </c:marker>
          <c:cat>
            <c:multiLvlStrRef>
              <c:f>Sheet1!$A$2:$A$5</c:f>
              <c:multiLvlStrCache>
                <c:ptCount val="4"/>
                <c:lvl>
                  <c:pt idx="0">
                    <c:v>2015–17</c:v>
                  </c:pt>
                  <c:pt idx="1">
                    <c:v>2018–20</c:v>
                  </c:pt>
                  <c:pt idx="2">
                    <c:v>2021–23</c:v>
                  </c:pt>
                  <c:pt idx="3">
                    <c:v>2024–26</c:v>
                  </c:pt>
                </c:lvl>
              </c:multiLvlStrCache>
            </c:multiLvlStrRef>
          </c:cat>
          <c:val>
            <c:numRef>
              <c:f>Sheet1!$C$2:$C$5</c:f>
              <c:numCache>
                <c:formatCode>General</c:formatCode>
                <c:ptCount val="4"/>
                <c:pt idx="0">
                  <c:v>0.8</c:v>
                </c:pt>
                <c:pt idx="1">
                  <c:v>0.56</c:v>
                </c:pt>
                <c:pt idx="2">
                  <c:v>0.22</c:v>
                </c:pt>
                <c:pt idx="3">
                  <c:v>0.08</c:v>
                </c:pt>
              </c:numCache>
            </c:numRef>
          </c:val>
          <c:smooth val="0"/>
        </c:ser>
        <c:ser>
          <c:idx val="2"/>
          <c:order val="2"/>
          <c:tx>
            <c:strRef>
              <c:f>Sheet1!$D$1</c:f>
              <c:strCache>
                <c:ptCount val="1"/>
                <c:pt idx="0">
                  <c:v>NQ depth per tick of spread</c:v>
                </c:pt>
              </c:strCache>
            </c:strRef>
          </c:tx>
          <c:spPr>
            <a:solidFill>
              <a:srgbClr val="2B5C9E"/>
            </a:solidFill>
            <a:ln w="31750" cap="flat">
              <a:solidFill>
                <a:srgbClr val="2B5C9E"/>
              </a:solidFill>
              <a:prstDash val="solid"/>
              <a:round/>
            </a:ln>
            <a:effectLst/>
          </c:spPr>
          <c:invertIfNegative val="0"/>
          <c:dLbls>
            <c:numFmt formatCode="#,##0" sourceLinked="0"/>
            <c:txPr>
              <a:bodyPr/>
              <a:lstStyle/>
              <a:p>
                <a:pPr>
                  <a:defRPr b="0" i="0" strike="noStrike" sz="1000" u="none">
                    <a:solidFill>
                      <a:srgbClr val="3A4453"/>
                    </a:solidFill>
                    <a:latin typeface="+mn-lt"/>
                  </a:defRPr>
                </a:pPr>
              </a:p>
            </c:txPr>
            <c:showLegendKey val="0"/>
            <c:showVal val="0"/>
            <c:showCatName val="0"/>
            <c:showSerName val="0"/>
            <c:showPercent val="0"/>
            <c:showBubbleSize val="0"/>
            <c:showLeaderLines val="0"/>
          </c:dLbls>
          <c:marker>
            <c:symbol val="circle"/>
            <c:size val="7"/>
            <c:spPr>
              <a:solidFill>
                <a:srgbClr val="2B5C9E"/>
              </a:solidFill>
              <a:ln w="9525" cap="flat">
                <a:solidFill>
                  <a:srgbClr val="2B5C9E"/>
                </a:solidFill>
                <a:prstDash val="solid"/>
                <a:round/>
              </a:ln>
              <a:effectLst/>
            </c:spPr>
          </c:marker>
          <c:cat>
            <c:multiLvlStrRef>
              <c:f>Sheet1!$A$2:$A$5</c:f>
              <c:multiLvlStrCache>
                <c:ptCount val="4"/>
                <c:lvl>
                  <c:pt idx="0">
                    <c:v>2015–17</c:v>
                  </c:pt>
                  <c:pt idx="1">
                    <c:v>2018–20</c:v>
                  </c:pt>
                  <c:pt idx="2">
                    <c:v>2021–23</c:v>
                  </c:pt>
                  <c:pt idx="3">
                    <c:v>2024–26</c:v>
                  </c:pt>
                </c:lvl>
              </c:multiLvlStrCache>
            </c:multiLvlStrRef>
          </c:cat>
          <c:val>
            <c:numRef>
              <c:f>Sheet1!$D$2:$D$5</c:f>
              <c:numCache>
                <c:formatCode>General</c:formatCode>
                <c:ptCount val="4"/>
                <c:pt idx="0">
                  <c:v>0.18</c:v>
                </c:pt>
                <c:pt idx="1">
                  <c:v>0.35</c:v>
                </c:pt>
                <c:pt idx="2">
                  <c:v>0.26</c:v>
                </c:pt>
                <c:pt idx="3">
                  <c:v>0.27</c:v>
                </c:pt>
              </c:numCache>
            </c:numRef>
          </c:val>
          <c:smooth val="0"/>
        </c:ser>
        <c:dLbls>
          <c:numFmt formatCode="#,##0" sourceLinked="0"/>
          <c:txPr>
            <a:bodyPr/>
            <a:lstStyle/>
            <a:p>
              <a:pPr>
                <a:defRPr b="0" i="0" strike="noStrike" sz="1000" u="none">
                  <a:solidFill>
                    <a:srgbClr val="3A445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4C2BE"/>
            </a:solidFill>
            <a:prstDash val="solid"/>
            <a:round/>
          </a:ln>
        </c:spPr>
        <c:txPr>
          <a:bodyPr/>
          <a:lstStyle/>
          <a:p>
            <a:pPr>
              <a:defRPr sz="1100" b="0" i="0" u="none" strike="noStrike">
                <a:solidFill>
                  <a:srgbClr val="5B647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1DC"/>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472"/>
                </a:solidFill>
                <a:latin typeface="+mn-lt"/>
              </a:defRPr>
            </a:pPr>
            <a:endParaRPr lang="en-US"/>
          </a:p>
        </c:txPr>
        <c:crossAx val="2094734554"/>
        <c:crosses val="autoZero"/>
        <c:crossBetween val="between"/>
        <c:majorUnit val="0.2"/>
      </c:valAx>
      <c:spPr>
        <a:solidFill>
          <a:srgbClr val="FBFAF7"/>
        </a:solidFill>
        <a:ln>
          <a:noFill/>
        </a:ln>
        <a:effectLst/>
      </c:spPr>
    </c:plotArea>
    <c:legend>
      <c:legendPos val="b"/>
      <c:overlay val="0"/>
      <c:txPr>
        <a:bodyPr/>
        <a:lstStyle/>
        <a:p>
          <a:pPr>
            <a:defRPr sz="1050">
              <a:solidFill>
                <a:srgbClr val="3A445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 to the September 30 results brief. Since then we worked through the professor's next steps: a pre-declared short-horizon measure for Q1, the macro arm extended back to 2015, matched control afternoons for every FOMC meeting, a much larger unscheduled sample, and the H3 forecast-dispersion test using Bloomberg survey data. Arc: what is new, the updated scorecard, then each result, then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extensions. The macro arm grew from 77 releases, all 2024-25, to 437 releases from 2015. Every FOMC meeting now has control afternoons. The unscheduled test moved from five hand-picked corporate stories to 107 price-identified arrivals in the same three futures. And H3, which was not identified last time for lack of vintage forecast data, is now tested with Bloomberg survey ranges. Two of these were pre-declared and frozen before the data were run. Every Databento request was cost-checked and quoted at $0.00.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summary. H3 moves from not identified to rejected under the pre-declared rule. H4 is now a cleaner result: withdrawal before scheduled news, against control mornings and afternoons across 2015-2026, and none before unscheduled arrivals. H2 is only half right once the new measure is used: statements are trade-driven, but so are numeric releases, so the taxonomy contrast is weak. H5 and H6 are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does not react at the scheduled second. After CPI and PPI the move starts a median 1.05 to 1.09 seconds after 8:30:00. A fixed window on the clock would measure noise, so the measure is anchored on the arrival: the 100 millisecond window with the largest net midpoint move in the first ten seconds. Every midpoint change in that window is attributed either to a trade, meaning the book update carrying a trade's timestamp, or to a quote revision. S is the quote share. Each event has its own placebo, the same statistic two minutes earlier, plus matched control days. On ordinary trading S sits around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boxes are announcements, grey the same window two minutes earlier. In every sample the scalar, multi-dimensional and statement boxes sit below their own placebos. The press conference does not: it has no arrival. Its largest 100 ms move in the first ten seconds is a median 1.3 bp against 5.4 bp for the statement, and its split looks like the window two minutes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is 2024-01 to 2025-09, which was inspected before the freeze. Out of sample is 2015 to 2023, run once afterwards. The event-minus-placebo contrasts all replicate, and the statement result becomes significant with 71 meetings. The scalar-versus-narrative ordering, which is what H1 and H2 were meant to carry, changes sign. Without the vendor-flagged September 2025 meeting, the development statement figure is -0.23 and the conclusions are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437 release mornings: every CPI, PPI and Employment Situation release from January 2015 on the official BLS schedule, plus the 2024-25 retail sales releases. The first-quote share of H1 as written is zero in every contract. Absorption has sped up a lot: ES reached half of its five-minute move in a median 13.8 seconds in 2015-2019 and 1.3 seconds in 2024-2026.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control morning is the same 8:30 window on a day of the same month without a release. Depth ratio is the final minute against the prior three minutes, time-weighted from tick data, paired by month. ES and ZN withdraw clearly against controls. NQ depth does not move, but its spread widens by about 2.4 ticks more than on control mornings. 25 of the rule-based controls turned out to have an 8:30 volume spike, probably a Census or BEA release; dropping them leaves ES at -0.27 and ZN at -0.54.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the 93-meeting H4 test was within-event only, without controls. Now every meeting from 2015 has matched control afternoons at the same clock. The final-minute depth ratio relative to control days is 0.28 in ES and 0.08 in ZN, in every period. NQ is the exception again, at 0.66, and fading over time; the next slide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and ZN trade at a one-tick spread almost all the time, so showing less can only mean less size at the touch. NQ's normal spread is wider than a tick, so the same decision shows up as a wider quote. Depth per tick of spread puts NQ at 0.26, close to ES at 0.20. As the index rose, one NQ tick fell from 0.52 bp of price to 0.11 bp, time at one tick fell from 80% to 8%, and the depth withdrawal faded in step while the combined measure stayed between 0.18 and 0.35. Across meetings, NQ's normal one-tick share predicts how much of the withdrawal shows up as depth, rho -0.72. A direct check needs MBP-10 for about a dozen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Arrivals are one-minute moves of at least 8 local standard deviations, off every scheduled clock, first in the hour: 107 arrivals with two to four control days each. Before an unscheduled arrival, depth is where it was half an hour earlier. After it, depth falls to about two thirds of control levels within a minute and stays there for at least 15 minutes. This is the proposal's 'no pre-event withdrawal but a sharp post-event liquidity shock'. Scheduled against unscheduled, p below 0.0001 in all three contracts. Results hold dropping arrivals near scheduled releases and dropping the 19 control windows that are an hour off because of daylight saving.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says the order-flow share rises with ex-ante forecast dispersion. On the step 1 measure that means S should fall when economists disagree more. Bloomberg returned survey high and low but no standard deviation, so dispersion is the range, standardized within series. The decision rule and the smallest effect of interest, -0.05 in S per standard deviation, were fixed in advance. -0.05 is about a quarter of the gap between CPI and PPI arrivals and the no-news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coefficient is +0.033 per standard deviation of dispersion, standard error 0.022, p 0.13. The interval runs from -0.009 to +0.075, so it excludes -0.05 and the pre-declared rule reads rejected. The sign is the opposite of the hypothesis. The pseudo-clock placebo is flat, as it should be. Every robustness run keeps a positive point estimate. NQ alone is significant, +0.068, unadjusted, and NQ is again the contract whose spread leaves S free to move. Nothing in the nine-test secondary family survives Holm.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reading: disagreement among forecasters does not make a release more trade-driven at the arrival. The mechanism in the proposal, that people who disagree must trade to learn what the number means, is not visible there. Three limits were seen after the run. Payroll dispersion barely varies outside 2020, so a post-freeze robust standardization was added and logged; it gives +0.015. CPI ranges are quantized to 0.1. And the whole period was used in one pass, so this is one test, not a replication.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paths from the shared one-second book, 69 FOMC statements with a USMPD surprise, 46 hawkish and 23 dovish, smallest quarter of surprises dropped. Hawkish surprises push equities and Treasury futures down and dovish ones up, as expected. The test of equal slopes per basis point of surprise gives p between 0.05 and 0.85 across horizons and nothing survives correction. So direction matters for the sign of the move, not for how fast it is priced.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Second-by-second mean spread in NQ ticks around the statement, split into terciles of the absolute USMPD surprise. The normal-day spread is flat at about 1.7 ticks. On FOMC days the spread is already wider before the clock, which is the withdrawal through the spread from the H4 slides, and it spikes at the release, higher for larger surprises, then decays over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Exploratory, not pre-declared. After jobs reports since 2020, ZN moves before ES in 33 of 43 untied cases, median 19 milliseconds, sign test p 0.0006, 0.014 after Holm across the 24 tests in that table. There is no consistent order for CPI or PPI. FOMC statements went the other way in 2015-2019: ES first in all 12 untied cases, median 71 milliseconds. Arrivals are counted only when both contracts move within half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tick-constraint explanation for NQ is the most interesting new claim and it has a direct test: ten-level data for about a dozen meetings should show NQ liquidity moving to wider prices rather than disappearing. Then label the unscheduled arrivals against news, finish the H3 calibration with ECOS, and close the two data-hygiene items. The paper PDF needs rebuilding with all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GLBX.MDP3, continuous front contracts ES.v.0, NQ.v.0 and ZN.v.0. 254 MBP-1 files were already on hand; the rest were downloaded on 5 October 2026. Seven FOMC windows exceeded the 250 MB size guard and were fetched with an explicit per-run override. The raw files are not in the repository; they are shared inside the team as steps_1_5_8_data.zip, and reports/data_files_steps_1_5_8.csv lists every file with its SHA-256.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selection question the professor raised: how often a trade intervenes before the first quote revision. For FOMC statements a trade comes first two to four times as often as on control afternoons. 8:28:00 is itself a busy second for ES and NQ because of algorithmic orders on the minute, which inflates the pseudo-clock rate for macro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620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822960"/>
            <a:ext cx="9144000" cy="320040"/>
          </a:xfrm>
          <a:prstGeom prst="rect">
            <a:avLst/>
          </a:prstGeom>
          <a:noFill/>
          <a:ln/>
        </p:spPr>
        <p:txBody>
          <a:bodyPr wrap="square" rtlCol="0"/>
          <a:lstStyle>
            <a:lvl1pPr indent="0" marL="0">
              <a:buNone/>
              <a:defRPr lang="en-US" sz="1200" b="1" spc="50" kern="0" dirty="0">
                <a:solidFill>
                  <a:srgbClr val="8FB4E8"/>
                </a:solidFill>
              </a:defRPr>
            </a:lvl1pPr>
          </a:lstStyle>
          <a:p>
            <a:pPr indent="0" marL="0">
              <a:buNone/>
            </a:pPr>
            <a:endParaRPr lang="en-US" sz="1200" dirty="0"/>
          </a:p>
        </p:txBody>
      </p:sp>
      <p:sp>
        <p:nvSpPr>
          <p:cNvPr id="3" name="Shape 0"/>
          <p:cNvSpPr/>
          <p:nvPr/>
        </p:nvSpPr>
        <p:spPr>
          <a:xfrm>
            <a:off x="813816" y="2121408"/>
            <a:ext cx="768096" cy="45720"/>
          </a:xfrm>
          <a:prstGeom prst="rect">
            <a:avLst/>
          </a:prstGeom>
          <a:solidFill>
            <a:srgbClr val="D98A4A"/>
          </a:solidFill>
          <a:ln/>
        </p:spPr>
      </p:sp>
      <p:sp>
        <p:nvSpPr>
          <p:cNvPr id="4" name="Text 1"/>
          <p:cNvSpPr/>
          <p:nvPr>
            <p:ph idx="102" type="title" hasCustomPrompt="1"/>
          </p:nvPr>
        </p:nvSpPr>
        <p:spPr>
          <a:xfrm>
            <a:off x="813816" y="2377440"/>
            <a:ext cx="9601200" cy="1508760"/>
          </a:xfrm>
          <a:prstGeom prst="rect">
            <a:avLst/>
          </a:prstGeom>
          <a:noFill/>
          <a:ln/>
        </p:spPr>
        <p:txBody>
          <a:bodyPr wrap="square" rtlCol="0"/>
          <a:lstStyle>
            <a:lvl1pPr algn="l" indent="0" marL="0">
              <a:buNone/>
              <a:defRPr lang="en-US" sz="4000" b="1" dirty="0">
                <a:solidFill>
                  <a:srgbClr val="F5F3EE"/>
                </a:solidFill>
              </a:defRPr>
            </a:lvl1pPr>
          </a:lstStyle>
          <a:p>
            <a:pPr algn="l" indent="0" marL="0">
              <a:buNone/>
            </a:pPr>
            <a:endParaRPr lang="en-US" sz="4000" dirty="0"/>
          </a:p>
        </p:txBody>
      </p:sp>
      <p:sp>
        <p:nvSpPr>
          <p:cNvPr id="5" name="Text 1"/>
          <p:cNvSpPr/>
          <p:nvPr>
            <p:ph idx="103" type="body" hasCustomPrompt="1"/>
          </p:nvPr>
        </p:nvSpPr>
        <p:spPr>
          <a:xfrm>
            <a:off x="813816" y="4023360"/>
            <a:ext cx="9601200" cy="822960"/>
          </a:xfrm>
          <a:prstGeom prst="rect">
            <a:avLst/>
          </a:prstGeom>
          <a:noFill/>
          <a:ln/>
        </p:spPr>
        <p:txBody>
          <a:bodyPr wrap="square" rtlCol="0"/>
          <a:lstStyle>
            <a:lvl1pPr indent="0" marL="0">
              <a:buNone/>
              <a:defRPr lang="en-US" sz="1600" dirty="0">
                <a:solidFill>
                  <a:srgbClr val="C9CFD8"/>
                </a:solidFill>
              </a:defRPr>
            </a:lvl1pPr>
          </a:lstStyle>
          <a:p>
            <a:pPr indent="0" marL="0">
              <a:buNone/>
            </a:pPr>
            <a:endParaRPr lang="en-US" sz="1600" dirty="0"/>
          </a:p>
        </p:txBody>
      </p:sp>
      <p:sp>
        <p:nvSpPr>
          <p:cNvPr id="6" name="Text 1"/>
          <p:cNvSpPr/>
          <p:nvPr>
            <p:ph idx="104" type="body" hasCustomPrompt="1"/>
          </p:nvPr>
        </p:nvSpPr>
        <p:spPr>
          <a:xfrm>
            <a:off x="813816" y="5715000"/>
            <a:ext cx="5486400" cy="411480"/>
          </a:xfrm>
          <a:prstGeom prst="rect">
            <a:avLst/>
          </a:prstGeom>
          <a:noFill/>
          <a:ln/>
        </p:spPr>
        <p:txBody>
          <a:bodyPr wrap="square" rtlCol="0"/>
          <a:lstStyle>
            <a:lvl1pPr indent="0" marL="0">
              <a:buNone/>
              <a:defRPr lang="en-US" sz="900" dirty="0">
                <a:solidFill>
                  <a:srgbClr val="C9CFD8"/>
                </a:solidFill>
              </a:defRPr>
            </a:lvl1pPr>
          </a:lstStyle>
          <a:p>
            <a:pPr indent="0" marL="0">
              <a:buNone/>
            </a:pP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620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2468880"/>
            <a:ext cx="9144000" cy="320040"/>
          </a:xfrm>
          <a:prstGeom prst="rect">
            <a:avLst/>
          </a:prstGeom>
          <a:noFill/>
          <a:ln/>
        </p:spPr>
        <p:txBody>
          <a:bodyPr wrap="square" rtlCol="0"/>
          <a:lstStyle>
            <a:lvl1pPr indent="0" marL="0">
              <a:buNone/>
              <a:defRPr lang="en-US" sz="1200" b="1" dirty="0">
                <a:solidFill>
                  <a:srgbClr val="8FB4E8"/>
                </a:solidFill>
              </a:defRPr>
            </a:lvl1pPr>
          </a:lstStyle>
          <a:p>
            <a:pPr indent="0" marL="0">
              <a:buNone/>
            </a:pPr>
            <a:endParaRPr lang="en-US" sz="1200" dirty="0"/>
          </a:p>
        </p:txBody>
      </p:sp>
      <p:sp>
        <p:nvSpPr>
          <p:cNvPr id="3" name="Text 0"/>
          <p:cNvSpPr/>
          <p:nvPr>
            <p:ph idx="101" type="title" hasCustomPrompt="1"/>
          </p:nvPr>
        </p:nvSpPr>
        <p:spPr>
          <a:xfrm>
            <a:off x="813816" y="2834640"/>
            <a:ext cx="10058400" cy="914400"/>
          </a:xfrm>
          <a:prstGeom prst="rect">
            <a:avLst/>
          </a:prstGeom>
          <a:noFill/>
          <a:ln/>
        </p:spPr>
        <p:txBody>
          <a:bodyPr wrap="square" rtlCol="0"/>
          <a:lstStyle>
            <a:lvl1pPr algn="l" indent="0" marL="0">
              <a:buNone/>
              <a:defRPr lang="en-US" sz="3600" b="1" dirty="0">
                <a:solidFill>
                  <a:srgbClr val="F5F3EE"/>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3E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rtlCol="0"/>
          <a:lstStyle>
            <a:lvl1pPr indent="0" marL="0">
              <a:buNone/>
              <a:defRPr lang="en-US" sz="1100" b="1" dirty="0">
                <a:solidFill>
                  <a:srgbClr val="2B5C9E"/>
                </a:solidFill>
              </a:defRPr>
            </a:lvl1pPr>
          </a:lstStyle>
          <a:p>
            <a:pPr indent="0" marL="0">
              <a:buNone/>
            </a:pP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rtlCol="0"/>
          <a:lstStyle>
            <a:lvl1pPr algn="l" indent="0" marL="0">
              <a:buNone/>
              <a:defRPr lang="en-US" sz="2800" b="1" dirty="0">
                <a:solidFill>
                  <a:srgbClr val="16202E"/>
                </a:solidFill>
              </a:defRPr>
            </a:lvl1pPr>
          </a:lstStyle>
          <a:p>
            <a:pPr algn="l" indent="0" marL="0">
              <a:buNone/>
            </a:pPr>
            <a:endParaRPr lang="en-US" sz="2800" dirty="0"/>
          </a:p>
        </p:txBody>
      </p:sp>
      <p:sp>
        <p:nvSpPr>
          <p:cNvPr id="4" name="Text 0"/>
          <p:cNvSpPr/>
          <p:nvPr/>
        </p:nvSpPr>
        <p:spPr>
          <a:xfrm>
            <a:off x="813816" y="6263640"/>
            <a:ext cx="5486400" cy="228600"/>
          </a:xfrm>
          <a:prstGeom prst="rect">
            <a:avLst/>
          </a:prstGeom>
          <a:noFill/>
          <a:ln/>
        </p:spPr>
        <p:txBody>
          <a:bodyPr wrap="square" lIns="0" tIns="0" rIns="0" bIns="0" rtlCol="0" anchor="ctr"/>
          <a:lstStyle/>
          <a:p>
            <a:pPr indent="0" marL="0">
              <a:buNone/>
            </a:pPr>
            <a:r>
              <a:rPr lang="en-US" sz="900" dirty="0">
                <a:solidFill>
                  <a:srgbClr val="5B6472"/>
                </a:solidFill>
              </a:rPr>
              <a:t>FOMC Price Discovery · Results Update</a:t>
            </a:r>
            <a:endParaRPr lang="en-US" sz="90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13816" y="822960"/>
            <a:ext cx="9144000" cy="320040"/>
          </a:xfrm>
          <a:prstGeom prst="rect">
            <a:avLst/>
          </a:prstGeom>
          <a:noFill/>
          <a:ln/>
        </p:spPr>
        <p:txBody>
          <a:bodyPr wrap="square" lIns="0" tIns="0" rIns="0" bIns="0" rtlCol="0"/>
          <a:lstStyle/>
          <a:p>
            <a:pPr indent="0" marL="0">
              <a:buNone/>
            </a:pPr>
            <a:r>
              <a:rPr lang="en-US" sz="1200" b="1" spc="50" kern="0" dirty="0">
                <a:solidFill>
                  <a:srgbClr val="8FB4E8"/>
                </a:solidFill>
              </a:rPr>
              <a:t>INDEPENDENT STUDY · RESULTS UPDATE</a:t>
            </a:r>
            <a:endParaRPr lang="en-US" sz="1200" dirty="0"/>
          </a:p>
        </p:txBody>
      </p:sp>
      <p:sp>
        <p:nvSpPr>
          <p:cNvPr id="3" name="Text 1"/>
          <p:cNvSpPr/>
          <p:nvPr>
            <p:ph idx="102" type="title" hasCustomPrompt="1"/>
          </p:nvPr>
        </p:nvSpPr>
        <p:spPr>
          <a:xfrm>
            <a:off x="813816" y="2377440"/>
            <a:ext cx="9601200" cy="1508760"/>
          </a:xfrm>
          <a:prstGeom prst="rect">
            <a:avLst/>
          </a:prstGeom>
          <a:noFill/>
          <a:ln/>
        </p:spPr>
        <p:txBody>
          <a:bodyPr wrap="square" lIns="0" tIns="0" rIns="0" bIns="0" rtlCol="0" anchor="t"/>
          <a:lstStyle/>
          <a:p>
            <a:pPr algn="l" indent="0" marL="0">
              <a:buNone/>
            </a:pPr>
            <a:r>
              <a:rPr lang="en-US" sz="4000" b="1" dirty="0">
                <a:solidFill>
                  <a:srgbClr val="F5F3EE"/>
                </a:solidFill>
              </a:rPr>
              <a:t>How does public news become a market price?</a:t>
            </a:r>
            <a:endParaRPr lang="en-US" sz="4000" dirty="0"/>
          </a:p>
        </p:txBody>
      </p:sp>
      <p:sp>
        <p:nvSpPr>
          <p:cNvPr id="4" name="Text 1"/>
          <p:cNvSpPr/>
          <p:nvPr>
            <p:ph idx="103" type="body" hasCustomPrompt="1"/>
          </p:nvPr>
        </p:nvSpPr>
        <p:spPr>
          <a:xfrm>
            <a:off x="813816" y="4023360"/>
            <a:ext cx="9601200" cy="822960"/>
          </a:xfrm>
          <a:prstGeom prst="rect">
            <a:avLst/>
          </a:prstGeom>
          <a:noFill/>
          <a:ln/>
        </p:spPr>
        <p:txBody>
          <a:bodyPr wrap="square" lIns="0" tIns="0" rIns="0" bIns="0" rtlCol="0" anchor="t"/>
          <a:lstStyle/>
          <a:p>
            <a:pPr indent="0" marL="0">
              <a:buNone/>
            </a:pPr>
            <a:r>
              <a:rPr lang="en-US" sz="1600" dirty="0">
                <a:solidFill>
                  <a:srgbClr val="C9CFD8"/>
                </a:solidFill>
              </a:rPr>
              <a:t>Pre-declared tests, the 2015–2026 extensions and the forecast-dispersion result (H3)</a:t>
            </a:r>
            <a:endParaRPr lang="en-US" sz="1600" dirty="0"/>
          </a:p>
        </p:txBody>
      </p:sp>
      <p:sp>
        <p:nvSpPr>
          <p:cNvPr id="5" name="Text 1"/>
          <p:cNvSpPr/>
          <p:nvPr>
            <p:ph idx="104" type="body" hasCustomPrompt="1"/>
          </p:nvPr>
        </p:nvSpPr>
        <p:spPr>
          <a:xfrm>
            <a:off x="813816" y="5715000"/>
            <a:ext cx="5486400" cy="411480"/>
          </a:xfrm>
          <a:prstGeom prst="rect">
            <a:avLst/>
          </a:prstGeom>
          <a:noFill/>
          <a:ln/>
        </p:spPr>
        <p:txBody>
          <a:bodyPr wrap="square" lIns="0" tIns="0" rIns="0" bIns="0" rtlCol="0" anchor="t"/>
          <a:lstStyle/>
          <a:p>
            <a:pPr indent="0" marL="0">
              <a:buNone/>
            </a:pPr>
            <a:r>
              <a:rPr lang="en-US" sz="900" dirty="0">
                <a:solidFill>
                  <a:srgbClr val="C9CFD8"/>
                </a:solidFill>
              </a:rPr>
              <a:t>Charishma, Giancarlo, Shivesh</a:t>
            </a:r>
            <a:endParaRPr lang="en-US" sz="900" dirty="0"/>
          </a:p>
          <a:p>
            <a:pPr indent="0" marL="0">
              <a:buNone/>
            </a:pPr>
            <a:r>
              <a:rPr lang="en-US" sz="900" dirty="0">
                <a:solidFill>
                  <a:srgbClr val="C9CFD8"/>
                </a:solidFill>
              </a:rPr>
              <a:t>October 7,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OVERVIEW</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What changed since September 30</a:t>
            </a:r>
            <a:endParaRPr lang="en-US" sz="2800" dirty="0"/>
          </a:p>
        </p:txBody>
      </p:sp>
      <p:sp>
        <p:nvSpPr>
          <p:cNvPr id="5" name="card"/>
          <p:cNvSpPr/>
          <p:nvPr/>
        </p:nvSpPr>
        <p:spPr>
          <a:xfrm>
            <a:off x="813816" y="1965960"/>
            <a:ext cx="2435276" cy="2514600"/>
          </a:xfrm>
          <a:prstGeom prst="roundRect">
            <a:avLst>
              <a:gd name="adj" fmla="val 2253"/>
            </a:avLst>
          </a:prstGeom>
          <a:solidFill>
            <a:srgbClr val="FBFAF7"/>
          </a:solidFill>
          <a:ln w="9525">
            <a:solidFill>
              <a:srgbClr val="E3E1DC"/>
            </a:solidFill>
            <a:prstDash val="solid"/>
          </a:ln>
        </p:spPr>
      </p:sp>
      <p:sp>
        <p:nvSpPr>
          <p:cNvPr id="6" name="Text 3"/>
          <p:cNvSpPr txBox="1"/>
          <p:nvPr/>
        </p:nvSpPr>
        <p:spPr>
          <a:xfrm>
            <a:off x="1042416" y="2148840"/>
            <a:ext cx="1978076" cy="731520"/>
          </a:xfrm>
          <a:prstGeom prst="rect">
            <a:avLst/>
          </a:prstGeom>
          <a:noFill/>
          <a:ln/>
        </p:spPr>
        <p:txBody>
          <a:bodyPr wrap="square" lIns="0" tIns="0" rIns="0" bIns="0" rtlCol="0" anchor="b"/>
          <a:lstStyle/>
          <a:p>
            <a:pPr indent="0" marL="0">
              <a:buNone/>
            </a:pPr>
            <a:r>
              <a:rPr lang="en-US" sz="4000" dirty="0">
                <a:solidFill>
                  <a:srgbClr val="2B5C9E"/>
                </a:solidFill>
              </a:rPr>
              <a:t>437</a:t>
            </a:r>
            <a:endParaRPr lang="en-US" sz="4000" dirty="0"/>
          </a:p>
        </p:txBody>
      </p:sp>
      <p:sp>
        <p:nvSpPr>
          <p:cNvPr id="7" name="Text 4"/>
          <p:cNvSpPr txBox="1"/>
          <p:nvPr/>
        </p:nvSpPr>
        <p:spPr>
          <a:xfrm>
            <a:off x="1042416" y="2944368"/>
            <a:ext cx="1978076" cy="502920"/>
          </a:xfrm>
          <a:prstGeom prst="rect">
            <a:avLst/>
          </a:prstGeom>
          <a:noFill/>
          <a:ln/>
        </p:spPr>
        <p:txBody>
          <a:bodyPr wrap="square" lIns="0" tIns="0" rIns="0" bIns="0" rtlCol="0" anchor="t"/>
          <a:lstStyle/>
          <a:p>
            <a:pPr indent="0" marL="0">
              <a:buNone/>
            </a:pPr>
            <a:r>
              <a:rPr lang="en-US" sz="1300" b="1" dirty="0">
                <a:solidFill>
                  <a:srgbClr val="16202E"/>
                </a:solidFill>
              </a:rPr>
              <a:t>release mornings, 2015–2026</a:t>
            </a:r>
            <a:endParaRPr lang="en-US" sz="1300" dirty="0"/>
          </a:p>
        </p:txBody>
      </p:sp>
      <p:sp>
        <p:nvSpPr>
          <p:cNvPr id="8" name="Text 5"/>
          <p:cNvSpPr txBox="1"/>
          <p:nvPr/>
        </p:nvSpPr>
        <p:spPr>
          <a:xfrm>
            <a:off x="1042416" y="3520440"/>
            <a:ext cx="1978076" cy="868680"/>
          </a:xfrm>
          <a:prstGeom prst="rect">
            <a:avLst/>
          </a:prstGeom>
          <a:noFill/>
          <a:ln/>
        </p:spPr>
        <p:txBody>
          <a:bodyPr wrap="square" lIns="0" tIns="0" rIns="0" bIns="0" rtlCol="0" anchor="t"/>
          <a:lstStyle/>
          <a:p>
            <a:pPr indent="0" marL="0">
              <a:buNone/>
            </a:pPr>
            <a:r>
              <a:rPr lang="en-US" sz="1150" dirty="0">
                <a:solidFill>
                  <a:srgbClr val="5B6472"/>
                </a:solidFill>
              </a:rPr>
              <a:t>Macro arm back to 2015 (was 77, all in 2024–25), with 112 control mornings</a:t>
            </a:r>
            <a:endParaRPr lang="en-US" sz="1150" dirty="0"/>
          </a:p>
        </p:txBody>
      </p:sp>
      <p:sp>
        <p:nvSpPr>
          <p:cNvPr id="9" name="card"/>
          <p:cNvSpPr/>
          <p:nvPr/>
        </p:nvSpPr>
        <p:spPr>
          <a:xfrm>
            <a:off x="3523412" y="1965960"/>
            <a:ext cx="2435276" cy="2514600"/>
          </a:xfrm>
          <a:prstGeom prst="roundRect">
            <a:avLst>
              <a:gd name="adj" fmla="val 2253"/>
            </a:avLst>
          </a:prstGeom>
          <a:solidFill>
            <a:srgbClr val="FBFAF7"/>
          </a:solidFill>
          <a:ln w="9525">
            <a:solidFill>
              <a:srgbClr val="E3E1DC"/>
            </a:solidFill>
            <a:prstDash val="solid"/>
          </a:ln>
        </p:spPr>
      </p:sp>
      <p:sp>
        <p:nvSpPr>
          <p:cNvPr id="10" name="Text 7"/>
          <p:cNvSpPr txBox="1"/>
          <p:nvPr/>
        </p:nvSpPr>
        <p:spPr>
          <a:xfrm>
            <a:off x="3752012" y="2148840"/>
            <a:ext cx="1978076" cy="731520"/>
          </a:xfrm>
          <a:prstGeom prst="rect">
            <a:avLst/>
          </a:prstGeom>
          <a:noFill/>
          <a:ln/>
        </p:spPr>
        <p:txBody>
          <a:bodyPr wrap="square" lIns="0" tIns="0" rIns="0" bIns="0" rtlCol="0" anchor="b"/>
          <a:lstStyle/>
          <a:p>
            <a:pPr indent="0" marL="0">
              <a:buNone/>
            </a:pPr>
            <a:r>
              <a:rPr lang="en-US" sz="4000" dirty="0">
                <a:solidFill>
                  <a:srgbClr val="2B5C9E"/>
                </a:solidFill>
              </a:rPr>
              <a:t>90</a:t>
            </a:r>
            <a:endParaRPr lang="en-US" sz="4000" dirty="0"/>
          </a:p>
        </p:txBody>
      </p:sp>
      <p:sp>
        <p:nvSpPr>
          <p:cNvPr id="11" name="Text 8"/>
          <p:cNvSpPr txBox="1"/>
          <p:nvPr/>
        </p:nvSpPr>
        <p:spPr>
          <a:xfrm>
            <a:off x="3752012" y="2944368"/>
            <a:ext cx="1978076" cy="502920"/>
          </a:xfrm>
          <a:prstGeom prst="rect">
            <a:avLst/>
          </a:prstGeom>
          <a:noFill/>
          <a:ln/>
        </p:spPr>
        <p:txBody>
          <a:bodyPr wrap="square" lIns="0" tIns="0" rIns="0" bIns="0" rtlCol="0" anchor="t"/>
          <a:lstStyle/>
          <a:p>
            <a:pPr indent="0" marL="0">
              <a:buNone/>
            </a:pPr>
            <a:r>
              <a:rPr lang="en-US" sz="1300" b="1" dirty="0">
                <a:solidFill>
                  <a:srgbClr val="16202E"/>
                </a:solidFill>
              </a:rPr>
              <a:t>FOMC meetings vs control afternoons</a:t>
            </a:r>
            <a:endParaRPr lang="en-US" sz="1300" dirty="0"/>
          </a:p>
        </p:txBody>
      </p:sp>
      <p:sp>
        <p:nvSpPr>
          <p:cNvPr id="12" name="Text 9"/>
          <p:cNvSpPr txBox="1"/>
          <p:nvPr/>
        </p:nvSpPr>
        <p:spPr>
          <a:xfrm>
            <a:off x="3752012" y="3520440"/>
            <a:ext cx="1978076" cy="868680"/>
          </a:xfrm>
          <a:prstGeom prst="rect">
            <a:avLst/>
          </a:prstGeom>
          <a:noFill/>
          <a:ln/>
        </p:spPr>
        <p:txBody>
          <a:bodyPr wrap="square" lIns="0" tIns="0" rIns="0" bIns="0" rtlCol="0" anchor="t"/>
          <a:lstStyle/>
          <a:p>
            <a:pPr indent="0" marL="0">
              <a:buNone/>
            </a:pPr>
            <a:r>
              <a:rPr lang="en-US" sz="1150" dirty="0">
                <a:solidFill>
                  <a:srgbClr val="5B6472"/>
                </a:solidFill>
              </a:rPr>
              <a:t>Matched 2:00 p.m. controls for 2015–2026, not only the 12 recent meetings</a:t>
            </a:r>
            <a:endParaRPr lang="en-US" sz="1150" dirty="0"/>
          </a:p>
        </p:txBody>
      </p:sp>
      <p:sp>
        <p:nvSpPr>
          <p:cNvPr id="13" name="card"/>
          <p:cNvSpPr/>
          <p:nvPr/>
        </p:nvSpPr>
        <p:spPr>
          <a:xfrm>
            <a:off x="6233008" y="1965960"/>
            <a:ext cx="2435276" cy="2514600"/>
          </a:xfrm>
          <a:prstGeom prst="roundRect">
            <a:avLst>
              <a:gd name="adj" fmla="val 2253"/>
            </a:avLst>
          </a:prstGeom>
          <a:solidFill>
            <a:srgbClr val="FBFAF7"/>
          </a:solidFill>
          <a:ln w="9525">
            <a:solidFill>
              <a:srgbClr val="E3E1DC"/>
            </a:solidFill>
            <a:prstDash val="solid"/>
          </a:ln>
        </p:spPr>
      </p:sp>
      <p:sp>
        <p:nvSpPr>
          <p:cNvPr id="14" name="Text 11"/>
          <p:cNvSpPr txBox="1"/>
          <p:nvPr/>
        </p:nvSpPr>
        <p:spPr>
          <a:xfrm>
            <a:off x="6461608" y="2148840"/>
            <a:ext cx="1978076" cy="731520"/>
          </a:xfrm>
          <a:prstGeom prst="rect">
            <a:avLst/>
          </a:prstGeom>
          <a:noFill/>
          <a:ln/>
        </p:spPr>
        <p:txBody>
          <a:bodyPr wrap="square" lIns="0" tIns="0" rIns="0" bIns="0" rtlCol="0" anchor="b"/>
          <a:lstStyle/>
          <a:p>
            <a:pPr indent="0" marL="0">
              <a:buNone/>
            </a:pPr>
            <a:r>
              <a:rPr lang="en-US" sz="4000" dirty="0">
                <a:solidFill>
                  <a:srgbClr val="2B5C9E"/>
                </a:solidFill>
              </a:rPr>
              <a:t>107</a:t>
            </a:r>
            <a:endParaRPr lang="en-US" sz="4000" dirty="0"/>
          </a:p>
        </p:txBody>
      </p:sp>
      <p:sp>
        <p:nvSpPr>
          <p:cNvPr id="15" name="Text 12"/>
          <p:cNvSpPr txBox="1"/>
          <p:nvPr/>
        </p:nvSpPr>
        <p:spPr>
          <a:xfrm>
            <a:off x="6461608" y="2944368"/>
            <a:ext cx="1978076" cy="502920"/>
          </a:xfrm>
          <a:prstGeom prst="rect">
            <a:avLst/>
          </a:prstGeom>
          <a:noFill/>
          <a:ln/>
        </p:spPr>
        <p:txBody>
          <a:bodyPr wrap="square" lIns="0" tIns="0" rIns="0" bIns="0" rtlCol="0" anchor="t"/>
          <a:lstStyle/>
          <a:p>
            <a:pPr indent="0" marL="0">
              <a:buNone/>
            </a:pPr>
            <a:r>
              <a:rPr lang="en-US" sz="1300" b="1" dirty="0">
                <a:solidFill>
                  <a:srgbClr val="16202E"/>
                </a:solidFill>
              </a:rPr>
              <a:t>unscheduled arrivals</a:t>
            </a:r>
            <a:endParaRPr lang="en-US" sz="1300" dirty="0"/>
          </a:p>
        </p:txBody>
      </p:sp>
      <p:sp>
        <p:nvSpPr>
          <p:cNvPr id="16" name="Text 13"/>
          <p:cNvSpPr txBox="1"/>
          <p:nvPr/>
        </p:nvSpPr>
        <p:spPr>
          <a:xfrm>
            <a:off x="6461608" y="3520440"/>
            <a:ext cx="1978076" cy="868680"/>
          </a:xfrm>
          <a:prstGeom prst="rect">
            <a:avLst/>
          </a:prstGeom>
          <a:noFill/>
          <a:ln/>
        </p:spPr>
        <p:txBody>
          <a:bodyPr wrap="square" lIns="0" tIns="0" rIns="0" bIns="0" rtlCol="0" anchor="t"/>
          <a:lstStyle/>
          <a:p>
            <a:pPr indent="0" marL="0">
              <a:buNone/>
            </a:pPr>
            <a:r>
              <a:rPr lang="en-US" sz="1150" dirty="0">
                <a:solidFill>
                  <a:srgbClr val="5B6472"/>
                </a:solidFill>
              </a:rPr>
              <a:t>Price-identified jumps in ES, NQ, ZN with 373 control windows</a:t>
            </a:r>
            <a:endParaRPr lang="en-US" sz="1150" dirty="0"/>
          </a:p>
        </p:txBody>
      </p:sp>
      <p:sp>
        <p:nvSpPr>
          <p:cNvPr id="17" name="card"/>
          <p:cNvSpPr/>
          <p:nvPr/>
        </p:nvSpPr>
        <p:spPr>
          <a:xfrm>
            <a:off x="8942603" y="1965960"/>
            <a:ext cx="2435276" cy="2514600"/>
          </a:xfrm>
          <a:prstGeom prst="roundRect">
            <a:avLst>
              <a:gd name="adj" fmla="val 2253"/>
            </a:avLst>
          </a:prstGeom>
          <a:solidFill>
            <a:srgbClr val="FBFAF7"/>
          </a:solidFill>
          <a:ln w="9525">
            <a:solidFill>
              <a:srgbClr val="E3E1DC"/>
            </a:solidFill>
            <a:prstDash val="solid"/>
          </a:ln>
        </p:spPr>
      </p:sp>
      <p:sp>
        <p:nvSpPr>
          <p:cNvPr id="18" name="Text 15"/>
          <p:cNvSpPr txBox="1"/>
          <p:nvPr/>
        </p:nvSpPr>
        <p:spPr>
          <a:xfrm>
            <a:off x="9171203" y="2148840"/>
            <a:ext cx="1978076" cy="731520"/>
          </a:xfrm>
          <a:prstGeom prst="rect">
            <a:avLst/>
          </a:prstGeom>
          <a:noFill/>
          <a:ln/>
        </p:spPr>
        <p:txBody>
          <a:bodyPr wrap="square" lIns="0" tIns="0" rIns="0" bIns="0" rtlCol="0" anchor="b"/>
          <a:lstStyle/>
          <a:p>
            <a:pPr indent="0" marL="0">
              <a:buNone/>
            </a:pPr>
            <a:r>
              <a:rPr lang="en-US" sz="4000" dirty="0">
                <a:solidFill>
                  <a:srgbClr val="B85D1C"/>
                </a:solidFill>
              </a:rPr>
              <a:t>425</a:t>
            </a:r>
            <a:endParaRPr lang="en-US" sz="4000" dirty="0"/>
          </a:p>
        </p:txBody>
      </p:sp>
      <p:sp>
        <p:nvSpPr>
          <p:cNvPr id="19" name="Text 16"/>
          <p:cNvSpPr txBox="1"/>
          <p:nvPr/>
        </p:nvSpPr>
        <p:spPr>
          <a:xfrm>
            <a:off x="9171203" y="2944368"/>
            <a:ext cx="1978076" cy="502920"/>
          </a:xfrm>
          <a:prstGeom prst="rect">
            <a:avLst/>
          </a:prstGeom>
          <a:noFill/>
          <a:ln/>
        </p:spPr>
        <p:txBody>
          <a:bodyPr wrap="square" lIns="0" tIns="0" rIns="0" bIns="0" rtlCol="0" anchor="t"/>
          <a:lstStyle/>
          <a:p>
            <a:pPr indent="0" marL="0">
              <a:buNone/>
            </a:pPr>
            <a:r>
              <a:rPr lang="en-US" sz="1300" b="1" dirty="0">
                <a:solidFill>
                  <a:srgbClr val="16202E"/>
                </a:solidFill>
              </a:rPr>
              <a:t>release mornings with survey data</a:t>
            </a:r>
            <a:endParaRPr lang="en-US" sz="1300" dirty="0"/>
          </a:p>
        </p:txBody>
      </p:sp>
      <p:sp>
        <p:nvSpPr>
          <p:cNvPr id="20" name="Text 17"/>
          <p:cNvSpPr txBox="1"/>
          <p:nvPr/>
        </p:nvSpPr>
        <p:spPr>
          <a:xfrm>
            <a:off x="9171203" y="3520440"/>
            <a:ext cx="1978076" cy="868680"/>
          </a:xfrm>
          <a:prstGeom prst="rect">
            <a:avLst/>
          </a:prstGeom>
          <a:noFill/>
          <a:ln/>
        </p:spPr>
        <p:txBody>
          <a:bodyPr wrap="square" lIns="0" tIns="0" rIns="0" bIns="0" rtlCol="0" anchor="t"/>
          <a:lstStyle/>
          <a:p>
            <a:pPr indent="0" marL="0">
              <a:buNone/>
            </a:pPr>
            <a:r>
              <a:rPr lang="en-US" sz="1150" dirty="0">
                <a:solidFill>
                  <a:srgbClr val="5B6472"/>
                </a:solidFill>
              </a:rPr>
              <a:t>Bloomberg forecast ranges make H3 testable for the first time</a:t>
            </a:r>
            <a:endParaRPr lang="en-US" sz="1150" dirty="0"/>
          </a:p>
        </p:txBody>
      </p:sp>
      <p:sp>
        <p:nvSpPr>
          <p:cNvPr id="21" name="freeze-box"/>
          <p:cNvSpPr/>
          <p:nvPr/>
        </p:nvSpPr>
        <p:spPr>
          <a:xfrm>
            <a:off x="813816" y="4800600"/>
            <a:ext cx="10564063" cy="868680"/>
          </a:xfrm>
          <a:prstGeom prst="rect">
            <a:avLst/>
          </a:prstGeom>
          <a:solidFill>
            <a:srgbClr val="E8EEF6"/>
          </a:solidFill>
          <a:ln/>
        </p:spPr>
      </p:sp>
      <p:sp>
        <p:nvSpPr>
          <p:cNvPr id="22" name="Text 19"/>
          <p:cNvSpPr txBox="1"/>
          <p:nvPr/>
        </p:nvSpPr>
        <p:spPr>
          <a:xfrm>
            <a:off x="1088136" y="4800600"/>
            <a:ext cx="10015423" cy="868680"/>
          </a:xfrm>
          <a:prstGeom prst="rect">
            <a:avLst/>
          </a:prstGeom>
          <a:noFill/>
          <a:ln/>
        </p:spPr>
        <p:txBody>
          <a:bodyPr wrap="square" lIns="0" tIns="0" rIns="0" bIns="0" rtlCol="0" anchor="ctr"/>
          <a:lstStyle/>
          <a:p>
            <a:pPr indent="0" marL="0">
              <a:buNone/>
            </a:pPr>
            <a:r>
              <a:rPr lang="en-US" sz="1300" b="1" dirty="0">
                <a:solidFill>
                  <a:srgbClr val="16202E"/>
                </a:solidFill>
              </a:rPr>
              <a:t>Frozen before the data were run. </a:t>
            </a:r>
            <a:pPr indent="0" marL="0">
              <a:buNone/>
            </a:pPr>
            <a:r>
              <a:rPr lang="en-US" sz="1300" dirty="0">
                <a:solidFill>
                  <a:srgbClr val="16202E"/>
                </a:solidFill>
              </a:rPr>
              <a:t>The short-horizon quote-revision measure (Q1) was frozen on 5 October, before any 2015–2023 window was processed. The H3 dispersion test was frozen on 7 October and run once.</a:t>
            </a:r>
            <a:endParaRPr lang="en-US" sz="130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RESULTS</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Where each hypothesis stands now</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3816" y="1965960"/>
          <a:ext cx="10564063" cy="914400"/>
        </p:xfrm>
        <a:graphic>
          <a:graphicData uri="http://schemas.openxmlformats.org/drawingml/2006/table">
            <a:tbl>
              <a:tblPr/>
              <a:tblGrid>
                <a:gridCol w="3520440"/>
                <a:gridCol w="1463040"/>
                <a:gridCol w="1280160"/>
                <a:gridCol w="4297680"/>
              </a:tblGrid>
              <a:tr h="512064">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Hypothesis</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Sept 30</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Now</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Key number</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r>
              <a:tr h="512064">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H1 · numeric news priced in the first quote (&gt;70%)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Rejected</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b="1" dirty="0">
                          <a:solidFill>
                            <a:srgbClr val="B85D1C"/>
                          </a:solidFill>
                          <a:latin typeface="IBM Plex Sans" pitchFamily="34" charset="0"/>
                          <a:ea typeface="IBM Plex Sans" pitchFamily="34" charset="-122"/>
                          <a:cs typeface="IBM Plex Sans" pitchFamily="34" charset="-120"/>
                        </a:rPr>
                        <a:t>Rejected</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Arrival share median 0.32; above 0.70 in 27 of 212 releases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512064">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H2 · narrative news first-quote share &lt;40%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Supported in sample</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b="1" dirty="0">
                          <a:solidFill>
                            <a:srgbClr val="5B6472"/>
                          </a:solidFill>
                          <a:latin typeface="IBM Plex Sans" pitchFamily="34" charset="0"/>
                          <a:ea typeface="IBM Plex Sans" pitchFamily="34" charset="-122"/>
                          <a:cs typeface="IBM Plex Sans" pitchFamily="34" charset="-120"/>
                        </a:rPr>
                        <a:t>Half right</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Statements −0.25 vs own placebo (Holm 0.003); press conference ≈ ordinary trading</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512064">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H3 · slower discovery when forecasters disagree</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Not identified</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b="1" dirty="0">
                          <a:solidFill>
                            <a:srgbClr val="B85D1C"/>
                          </a:solidFill>
                          <a:latin typeface="IBM Plex Sans" pitchFamily="34" charset="0"/>
                          <a:ea typeface="IBM Plex Sans" pitchFamily="34" charset="-122"/>
                          <a:cs typeface="IBM Plex Sans" pitchFamily="34" charset="-120"/>
                        </a:rPr>
                        <a:t>Rejected</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β = +0.033 per sd; 95% CI −0.009 to +0.075 excludes −0.05</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512064">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H4 · depth withdraws before scheduled news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Partly supported</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b="1" dirty="0">
                          <a:solidFill>
                            <a:srgbClr val="2B5C9E"/>
                          </a:solidFill>
                          <a:latin typeface="IBM Plex Sans" pitchFamily="34" charset="0"/>
                          <a:ea typeface="IBM Plex Sans" pitchFamily="34" charset="-122"/>
                          <a:cs typeface="IBM Plex Sans" pitchFamily="34" charset="-120"/>
                        </a:rPr>
                        <a:t>Supported</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ES −0.26, ZN −0.51 vs control mornings; none before 107 unscheduled arrivals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512064">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H5 · bigger surprise, slower pricing</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More testing due</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b="1" dirty="0">
                          <a:solidFill>
                            <a:srgbClr val="B85D1C"/>
                          </a:solidFill>
                          <a:latin typeface="IBM Plex Sans" pitchFamily="34" charset="0"/>
                          <a:ea typeface="IBM Plex Sans" pitchFamily="34" charset="-122"/>
                          <a:cs typeface="IBM Plex Sans" pitchFamily="34" charset="-120"/>
                        </a:rPr>
                        <a:t>Not supported</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No equity cell survives Holm; ES+NQ ρ = −0.12, p = 0.28</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512064">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H6 · hawkish surprises priced slower</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Not supported</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b="1" dirty="0">
                          <a:solidFill>
                            <a:srgbClr val="B85D1C"/>
                          </a:solidFill>
                          <a:latin typeface="IBM Plex Sans" pitchFamily="34" charset="0"/>
                          <a:ea typeface="IBM Plex Sans" pitchFamily="34" charset="-122"/>
                          <a:cs typeface="IBM Plex Sans" pitchFamily="34" charset="-120"/>
                        </a:rPr>
                        <a:t>Not supported</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No test survives Holm at 12 or 93 meetings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METHODOLOGY · Q1</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A measure anchored on the market's own arrival</a:t>
            </a:r>
            <a:endParaRPr lang="en-US" sz="2800" dirty="0"/>
          </a:p>
        </p:txBody>
      </p:sp>
      <p:sp>
        <p:nvSpPr>
          <p:cNvPr id="5" name="card"/>
          <p:cNvSpPr/>
          <p:nvPr/>
        </p:nvSpPr>
        <p:spPr>
          <a:xfrm>
            <a:off x="813816" y="1965960"/>
            <a:ext cx="2240280" cy="1325880"/>
          </a:xfrm>
          <a:prstGeom prst="roundRect">
            <a:avLst>
              <a:gd name="adj" fmla="val 4138"/>
            </a:avLst>
          </a:prstGeom>
          <a:solidFill>
            <a:srgbClr val="FBFAF7"/>
          </a:solidFill>
          <a:ln w="9525">
            <a:solidFill>
              <a:srgbClr val="E3E1DC"/>
            </a:solidFill>
            <a:prstDash val="solid"/>
          </a:ln>
        </p:spPr>
      </p:sp>
      <p:sp>
        <p:nvSpPr>
          <p:cNvPr id="6" name="Text 3"/>
          <p:cNvSpPr txBox="1"/>
          <p:nvPr/>
        </p:nvSpPr>
        <p:spPr>
          <a:xfrm>
            <a:off x="996696" y="2103120"/>
            <a:ext cx="1874520" cy="320040"/>
          </a:xfrm>
          <a:prstGeom prst="rect">
            <a:avLst/>
          </a:prstGeom>
          <a:noFill/>
          <a:ln/>
        </p:spPr>
        <p:txBody>
          <a:bodyPr wrap="square" lIns="0" tIns="0" rIns="0" bIns="0" rtlCol="0" anchor="t"/>
          <a:lstStyle/>
          <a:p>
            <a:pPr indent="0" marL="0">
              <a:buNone/>
            </a:pPr>
            <a:r>
              <a:rPr lang="en-US" sz="1400" b="1" dirty="0">
                <a:solidFill>
                  <a:srgbClr val="16202E"/>
                </a:solidFill>
              </a:rPr>
              <a:t>Scheduled clock</a:t>
            </a:r>
            <a:endParaRPr lang="en-US" sz="1400" dirty="0"/>
          </a:p>
        </p:txBody>
      </p:sp>
      <p:sp>
        <p:nvSpPr>
          <p:cNvPr id="7" name="Text 4"/>
          <p:cNvSpPr txBox="1"/>
          <p:nvPr/>
        </p:nvSpPr>
        <p:spPr>
          <a:xfrm>
            <a:off x="996696" y="2468880"/>
            <a:ext cx="1874520" cy="731520"/>
          </a:xfrm>
          <a:prstGeom prst="rect">
            <a:avLst/>
          </a:prstGeom>
          <a:noFill/>
          <a:ln/>
        </p:spPr>
        <p:txBody>
          <a:bodyPr wrap="square" lIns="0" tIns="0" rIns="0" bIns="0" rtlCol="0" anchor="t"/>
          <a:lstStyle/>
          <a:p>
            <a:pPr indent="0" marL="0">
              <a:buNone/>
            </a:pPr>
            <a:r>
              <a:rPr lang="en-US" sz="1150" dirty="0">
                <a:solidFill>
                  <a:srgbClr val="5B6472"/>
                </a:solidFill>
              </a:rPr>
              <a:t>8:30:00 or 2:00:00 p.m., exchange timestamps</a:t>
            </a:r>
            <a:endParaRPr lang="en-US" sz="1150" dirty="0"/>
          </a:p>
        </p:txBody>
      </p:sp>
      <p:sp>
        <p:nvSpPr>
          <p:cNvPr id="8" name="arrow"/>
          <p:cNvSpPr/>
          <p:nvPr/>
        </p:nvSpPr>
        <p:spPr>
          <a:xfrm>
            <a:off x="3174949" y="2514600"/>
            <a:ext cx="292608" cy="219456"/>
          </a:xfrm>
          <a:prstGeom prst="rightArrow">
            <a:avLst/>
          </a:prstGeom>
          <a:solidFill>
            <a:srgbClr val="C4C2BE"/>
          </a:solidFill>
          <a:ln/>
        </p:spPr>
      </p:sp>
      <p:sp>
        <p:nvSpPr>
          <p:cNvPr id="9" name="card"/>
          <p:cNvSpPr/>
          <p:nvPr/>
        </p:nvSpPr>
        <p:spPr>
          <a:xfrm>
            <a:off x="3588410" y="1965960"/>
            <a:ext cx="2240280" cy="1325880"/>
          </a:xfrm>
          <a:prstGeom prst="roundRect">
            <a:avLst>
              <a:gd name="adj" fmla="val 4138"/>
            </a:avLst>
          </a:prstGeom>
          <a:solidFill>
            <a:srgbClr val="FBFAF7"/>
          </a:solidFill>
          <a:ln w="9525">
            <a:solidFill>
              <a:srgbClr val="E3E1DC"/>
            </a:solidFill>
            <a:prstDash val="solid"/>
          </a:ln>
        </p:spPr>
      </p:sp>
      <p:sp>
        <p:nvSpPr>
          <p:cNvPr id="10" name="Text 7"/>
          <p:cNvSpPr txBox="1"/>
          <p:nvPr/>
        </p:nvSpPr>
        <p:spPr>
          <a:xfrm>
            <a:off x="3771290" y="2103120"/>
            <a:ext cx="1874520" cy="320040"/>
          </a:xfrm>
          <a:prstGeom prst="rect">
            <a:avLst/>
          </a:prstGeom>
          <a:noFill/>
          <a:ln/>
        </p:spPr>
        <p:txBody>
          <a:bodyPr wrap="square" lIns="0" tIns="0" rIns="0" bIns="0" rtlCol="0" anchor="t"/>
          <a:lstStyle/>
          <a:p>
            <a:pPr indent="0" marL="0">
              <a:buNone/>
            </a:pPr>
            <a:r>
              <a:rPr lang="en-US" sz="1400" b="1" dirty="0">
                <a:solidFill>
                  <a:srgbClr val="16202E"/>
                </a:solidFill>
              </a:rPr>
              <a:t>Market arrival</a:t>
            </a:r>
            <a:endParaRPr lang="en-US" sz="1400" dirty="0"/>
          </a:p>
        </p:txBody>
      </p:sp>
      <p:sp>
        <p:nvSpPr>
          <p:cNvPr id="11" name="Text 8"/>
          <p:cNvSpPr txBox="1"/>
          <p:nvPr/>
        </p:nvSpPr>
        <p:spPr>
          <a:xfrm>
            <a:off x="3771290" y="2468880"/>
            <a:ext cx="1874520" cy="731520"/>
          </a:xfrm>
          <a:prstGeom prst="rect">
            <a:avLst/>
          </a:prstGeom>
          <a:noFill/>
          <a:ln/>
        </p:spPr>
        <p:txBody>
          <a:bodyPr wrap="square" lIns="0" tIns="0" rIns="0" bIns="0" rtlCol="0" anchor="t"/>
          <a:lstStyle/>
          <a:p>
            <a:pPr indent="0" marL="0">
              <a:buNone/>
            </a:pPr>
            <a:r>
              <a:rPr lang="en-US" sz="1150" dirty="0">
                <a:solidFill>
                  <a:srgbClr val="5B6472"/>
                </a:solidFill>
              </a:rPr>
              <a:t>Median 1.05–1.3 s after the clock, not at it</a:t>
            </a:r>
            <a:endParaRPr lang="en-US" sz="1150" dirty="0"/>
          </a:p>
        </p:txBody>
      </p:sp>
      <p:sp>
        <p:nvSpPr>
          <p:cNvPr id="12" name="arrow"/>
          <p:cNvSpPr/>
          <p:nvPr/>
        </p:nvSpPr>
        <p:spPr>
          <a:xfrm>
            <a:off x="5949544" y="2514600"/>
            <a:ext cx="292608" cy="219456"/>
          </a:xfrm>
          <a:prstGeom prst="rightArrow">
            <a:avLst/>
          </a:prstGeom>
          <a:solidFill>
            <a:srgbClr val="C4C2BE"/>
          </a:solidFill>
          <a:ln/>
        </p:spPr>
      </p:sp>
      <p:sp>
        <p:nvSpPr>
          <p:cNvPr id="13" name="card"/>
          <p:cNvSpPr/>
          <p:nvPr/>
        </p:nvSpPr>
        <p:spPr>
          <a:xfrm>
            <a:off x="6363005" y="1965960"/>
            <a:ext cx="2240280" cy="1325880"/>
          </a:xfrm>
          <a:prstGeom prst="roundRect">
            <a:avLst>
              <a:gd name="adj" fmla="val 4138"/>
            </a:avLst>
          </a:prstGeom>
          <a:solidFill>
            <a:srgbClr val="FBFAF7"/>
          </a:solidFill>
          <a:ln w="9525">
            <a:solidFill>
              <a:srgbClr val="E3E1DC"/>
            </a:solidFill>
            <a:prstDash val="solid"/>
          </a:ln>
        </p:spPr>
      </p:sp>
      <p:sp>
        <p:nvSpPr>
          <p:cNvPr id="14" name="Text 11"/>
          <p:cNvSpPr txBox="1"/>
          <p:nvPr/>
        </p:nvSpPr>
        <p:spPr>
          <a:xfrm>
            <a:off x="6545885" y="2103120"/>
            <a:ext cx="1874520" cy="320040"/>
          </a:xfrm>
          <a:prstGeom prst="rect">
            <a:avLst/>
          </a:prstGeom>
          <a:noFill/>
          <a:ln/>
        </p:spPr>
        <p:txBody>
          <a:bodyPr wrap="square" lIns="0" tIns="0" rIns="0" bIns="0" rtlCol="0" anchor="t"/>
          <a:lstStyle/>
          <a:p>
            <a:pPr indent="0" marL="0">
              <a:buNone/>
            </a:pPr>
            <a:r>
              <a:rPr lang="en-US" sz="1400" b="1" dirty="0">
                <a:solidFill>
                  <a:srgbClr val="16202E"/>
                </a:solidFill>
              </a:rPr>
              <a:t>100 ms window</a:t>
            </a:r>
            <a:endParaRPr lang="en-US" sz="1400" dirty="0"/>
          </a:p>
        </p:txBody>
      </p:sp>
      <p:sp>
        <p:nvSpPr>
          <p:cNvPr id="15" name="Text 12"/>
          <p:cNvSpPr txBox="1"/>
          <p:nvPr/>
        </p:nvSpPr>
        <p:spPr>
          <a:xfrm>
            <a:off x="6545885" y="2468880"/>
            <a:ext cx="1874520" cy="731520"/>
          </a:xfrm>
          <a:prstGeom prst="rect">
            <a:avLst/>
          </a:prstGeom>
          <a:noFill/>
          <a:ln/>
        </p:spPr>
        <p:txBody>
          <a:bodyPr wrap="square" lIns="0" tIns="0" rIns="0" bIns="0" rtlCol="0" anchor="t"/>
          <a:lstStyle/>
          <a:p>
            <a:pPr indent="0" marL="0">
              <a:buNone/>
            </a:pPr>
            <a:r>
              <a:rPr lang="en-US" sz="1150" dirty="0">
                <a:solidFill>
                  <a:srgbClr val="5B6472"/>
                </a:solidFill>
              </a:rPr>
              <a:t>Largest net midpoint move in the first 10 s</a:t>
            </a:r>
            <a:endParaRPr lang="en-US" sz="1150" dirty="0"/>
          </a:p>
        </p:txBody>
      </p:sp>
      <p:sp>
        <p:nvSpPr>
          <p:cNvPr id="16" name="arrow"/>
          <p:cNvSpPr/>
          <p:nvPr/>
        </p:nvSpPr>
        <p:spPr>
          <a:xfrm>
            <a:off x="8724138" y="2514600"/>
            <a:ext cx="292608" cy="219456"/>
          </a:xfrm>
          <a:prstGeom prst="rightArrow">
            <a:avLst/>
          </a:prstGeom>
          <a:solidFill>
            <a:srgbClr val="C4C2BE"/>
          </a:solidFill>
          <a:ln/>
        </p:spPr>
      </p:sp>
      <p:sp>
        <p:nvSpPr>
          <p:cNvPr id="17" name="card"/>
          <p:cNvSpPr/>
          <p:nvPr/>
        </p:nvSpPr>
        <p:spPr>
          <a:xfrm>
            <a:off x="9137599" y="1965960"/>
            <a:ext cx="2240280" cy="1325880"/>
          </a:xfrm>
          <a:prstGeom prst="roundRect">
            <a:avLst>
              <a:gd name="adj" fmla="val 4138"/>
            </a:avLst>
          </a:prstGeom>
          <a:solidFill>
            <a:srgbClr val="16202E"/>
          </a:solidFill>
          <a:ln w="9525">
            <a:solidFill>
              <a:srgbClr val="16202E"/>
            </a:solidFill>
            <a:prstDash val="solid"/>
          </a:ln>
        </p:spPr>
      </p:sp>
      <p:sp>
        <p:nvSpPr>
          <p:cNvPr id="18" name="Text 15"/>
          <p:cNvSpPr txBox="1"/>
          <p:nvPr/>
        </p:nvSpPr>
        <p:spPr>
          <a:xfrm>
            <a:off x="9320479" y="2103120"/>
            <a:ext cx="1874520" cy="320040"/>
          </a:xfrm>
          <a:prstGeom prst="rect">
            <a:avLst/>
          </a:prstGeom>
          <a:noFill/>
          <a:ln/>
        </p:spPr>
        <p:txBody>
          <a:bodyPr wrap="square" lIns="0" tIns="0" rIns="0" bIns="0" rtlCol="0" anchor="t"/>
          <a:lstStyle/>
          <a:p>
            <a:pPr indent="0" marL="0">
              <a:buNone/>
            </a:pPr>
            <a:r>
              <a:rPr lang="en-US" sz="1400" b="1" dirty="0">
                <a:solidFill>
                  <a:srgbClr val="F5F3EE"/>
                </a:solidFill>
              </a:rPr>
              <a:t>Attribute each tick</a:t>
            </a:r>
            <a:endParaRPr lang="en-US" sz="1400" dirty="0"/>
          </a:p>
        </p:txBody>
      </p:sp>
      <p:sp>
        <p:nvSpPr>
          <p:cNvPr id="19" name="Text 16"/>
          <p:cNvSpPr txBox="1"/>
          <p:nvPr/>
        </p:nvSpPr>
        <p:spPr>
          <a:xfrm>
            <a:off x="9320479" y="2468880"/>
            <a:ext cx="1874520" cy="731520"/>
          </a:xfrm>
          <a:prstGeom prst="rect">
            <a:avLst/>
          </a:prstGeom>
          <a:noFill/>
          <a:ln/>
        </p:spPr>
        <p:txBody>
          <a:bodyPr wrap="square" lIns="0" tIns="0" rIns="0" bIns="0" rtlCol="0" anchor="t"/>
          <a:lstStyle/>
          <a:p>
            <a:pPr indent="0" marL="0">
              <a:buNone/>
            </a:pPr>
            <a:r>
              <a:rPr lang="en-US" sz="1150" dirty="0">
                <a:solidFill>
                  <a:srgbClr val="C9CFD8"/>
                </a:solidFill>
              </a:rPr>
              <a:t>Trade (book update with a trade's timestamp) or quote revision</a:t>
            </a:r>
            <a:endParaRPr lang="en-US" sz="1150" dirty="0"/>
          </a:p>
        </p:txBody>
      </p:sp>
      <p:sp>
        <p:nvSpPr>
          <p:cNvPr id="20" name="formula"/>
          <p:cNvSpPr/>
          <p:nvPr/>
        </p:nvSpPr>
        <p:spPr>
          <a:xfrm>
            <a:off x="813816" y="3520440"/>
            <a:ext cx="10564063" cy="640080"/>
          </a:xfrm>
          <a:prstGeom prst="rect">
            <a:avLst/>
          </a:prstGeom>
          <a:solidFill>
            <a:srgbClr val="EBE7DE"/>
          </a:solidFill>
          <a:ln/>
        </p:spPr>
      </p:sp>
      <p:sp>
        <p:nvSpPr>
          <p:cNvPr id="21" name="Text 18"/>
          <p:cNvSpPr txBox="1"/>
          <p:nvPr/>
        </p:nvSpPr>
        <p:spPr>
          <a:xfrm>
            <a:off x="1088136" y="3520440"/>
            <a:ext cx="10015423" cy="640080"/>
          </a:xfrm>
          <a:prstGeom prst="rect">
            <a:avLst/>
          </a:prstGeom>
          <a:noFill/>
          <a:ln/>
        </p:spPr>
        <p:txBody>
          <a:bodyPr wrap="square" lIns="0" tIns="0" rIns="0" bIns="0" rtlCol="0" anchor="ctr"/>
          <a:lstStyle/>
          <a:p>
            <a:pPr indent="0" marL="0">
              <a:buNone/>
            </a:pPr>
            <a:r>
              <a:rPr lang="en-US" sz="1500" dirty="0">
                <a:solidFill>
                  <a:srgbClr val="2B5C9E"/>
                </a:solidFill>
                <a:latin typeface="IBM Plex Mono" pitchFamily="34" charset="0"/>
                <a:ea typeface="IBM Plex Mono" pitchFamily="34" charset="-122"/>
                <a:cs typeface="IBM Plex Mono" pitchFamily="34" charset="-120"/>
              </a:rPr>
              <a:t>S = quote-attributed move ÷ (quote + trade), over the 100 ms arrival window</a:t>
            </a:r>
            <a:endParaRPr lang="en-US" sz="1500" dirty="0"/>
          </a:p>
        </p:txBody>
      </p:sp>
      <p:sp>
        <p:nvSpPr>
          <p:cNvPr id="22" name="card"/>
          <p:cNvSpPr/>
          <p:nvPr/>
        </p:nvSpPr>
        <p:spPr>
          <a:xfrm>
            <a:off x="813816" y="4389120"/>
            <a:ext cx="5144872" cy="1600200"/>
          </a:xfrm>
          <a:prstGeom prst="roundRect">
            <a:avLst>
              <a:gd name="adj" fmla="val 3429"/>
            </a:avLst>
          </a:prstGeom>
          <a:solidFill>
            <a:srgbClr val="FBFAF7"/>
          </a:solidFill>
          <a:ln w="9525">
            <a:solidFill>
              <a:srgbClr val="E3E1DC"/>
            </a:solidFill>
            <a:prstDash val="solid"/>
          </a:ln>
        </p:spPr>
      </p:sp>
      <p:sp>
        <p:nvSpPr>
          <p:cNvPr id="23" name="Text 20"/>
          <p:cNvSpPr txBox="1"/>
          <p:nvPr/>
        </p:nvSpPr>
        <p:spPr>
          <a:xfrm>
            <a:off x="1042416" y="4526280"/>
            <a:ext cx="4687672" cy="256032"/>
          </a:xfrm>
          <a:prstGeom prst="rect">
            <a:avLst/>
          </a:prstGeom>
          <a:noFill/>
          <a:ln/>
        </p:spPr>
        <p:txBody>
          <a:bodyPr wrap="square" lIns="0" tIns="0" rIns="0" bIns="0" rtlCol="0" anchor="t"/>
          <a:lstStyle/>
          <a:p>
            <a:pPr indent="0" marL="0">
              <a:buNone/>
            </a:pPr>
            <a:r>
              <a:rPr lang="en-US" sz="1050" b="1" dirty="0">
                <a:solidFill>
                  <a:srgbClr val="2B5C9E"/>
                </a:solidFill>
              </a:rPr>
              <a:t>PLACEBOS</a:t>
            </a:r>
            <a:endParaRPr lang="en-US" sz="1050" dirty="0"/>
          </a:p>
        </p:txBody>
      </p:sp>
      <p:sp>
        <p:nvSpPr>
          <p:cNvPr id="24" name="Text 21"/>
          <p:cNvSpPr txBox="1"/>
          <p:nvPr/>
        </p:nvSpPr>
        <p:spPr>
          <a:xfrm>
            <a:off x="1042416" y="4846320"/>
            <a:ext cx="4687672" cy="1005840"/>
          </a:xfrm>
          <a:prstGeom prst="rect">
            <a:avLst/>
          </a:prstGeom>
          <a:noFill/>
          <a:ln/>
        </p:spPr>
        <p:txBody>
          <a:bodyPr wrap="square" lIns="0" tIns="0" rIns="0" bIns="0" rtlCol="0" anchor="t"/>
          <a:lstStyle/>
          <a:p>
            <a:pPr indent="0" marL="0">
              <a:buNone/>
            </a:pPr>
            <a:r>
              <a:rPr lang="en-US" sz="1300" dirty="0">
                <a:solidFill>
                  <a:srgbClr val="3A4453"/>
                </a:solidFill>
              </a:rPr>
              <a:t>The same statistic on a pseudo clock two minutes earlier, and on matched control days. Ordinary trading sits near S = 0.50.</a:t>
            </a:r>
            <a:endParaRPr lang="en-US" sz="1300" dirty="0"/>
          </a:p>
        </p:txBody>
      </p:sp>
      <p:sp>
        <p:nvSpPr>
          <p:cNvPr id="25" name="card"/>
          <p:cNvSpPr/>
          <p:nvPr/>
        </p:nvSpPr>
        <p:spPr>
          <a:xfrm>
            <a:off x="6233008" y="4389120"/>
            <a:ext cx="5144872" cy="1600200"/>
          </a:xfrm>
          <a:prstGeom prst="roundRect">
            <a:avLst>
              <a:gd name="adj" fmla="val 3429"/>
            </a:avLst>
          </a:prstGeom>
          <a:solidFill>
            <a:srgbClr val="FBFAF7"/>
          </a:solidFill>
          <a:ln w="9525">
            <a:solidFill>
              <a:srgbClr val="E3E1DC"/>
            </a:solidFill>
            <a:prstDash val="solid"/>
          </a:ln>
        </p:spPr>
      </p:sp>
      <p:sp>
        <p:nvSpPr>
          <p:cNvPr id="26" name="Text 23"/>
          <p:cNvSpPr txBox="1"/>
          <p:nvPr/>
        </p:nvSpPr>
        <p:spPr>
          <a:xfrm>
            <a:off x="6461608" y="4526280"/>
            <a:ext cx="4687672" cy="256032"/>
          </a:xfrm>
          <a:prstGeom prst="rect">
            <a:avLst/>
          </a:prstGeom>
          <a:noFill/>
          <a:ln/>
        </p:spPr>
        <p:txBody>
          <a:bodyPr wrap="square" lIns="0" tIns="0" rIns="0" bIns="0" rtlCol="0" anchor="t"/>
          <a:lstStyle/>
          <a:p>
            <a:pPr indent="0" marL="0">
              <a:buNone/>
            </a:pPr>
            <a:r>
              <a:rPr lang="en-US" sz="1050" b="1" dirty="0">
                <a:solidFill>
                  <a:srgbClr val="B85D1C"/>
                </a:solidFill>
              </a:rPr>
              <a:t>FREEZE</a:t>
            </a:r>
            <a:endParaRPr lang="en-US" sz="1050" dirty="0"/>
          </a:p>
        </p:txBody>
      </p:sp>
      <p:sp>
        <p:nvSpPr>
          <p:cNvPr id="27" name="Text 24"/>
          <p:cNvSpPr txBox="1"/>
          <p:nvPr/>
        </p:nvSpPr>
        <p:spPr>
          <a:xfrm>
            <a:off x="6461608" y="4846320"/>
            <a:ext cx="4687672" cy="1005840"/>
          </a:xfrm>
          <a:prstGeom prst="rect">
            <a:avLst/>
          </a:prstGeom>
          <a:noFill/>
          <a:ln/>
        </p:spPr>
        <p:txBody>
          <a:bodyPr wrap="square" lIns="0" tIns="0" rIns="0" bIns="0" rtlCol="0" anchor="t"/>
          <a:lstStyle/>
          <a:p>
            <a:pPr indent="0" marL="0">
              <a:buNone/>
            </a:pPr>
            <a:r>
              <a:rPr lang="en-US" sz="1300" dirty="0">
                <a:solidFill>
                  <a:srgbClr val="3A4453"/>
                </a:solidFill>
              </a:rPr>
              <a:t>Frozen 5 Oct 2026 with hashes of the measure code, script and registry, after the 2024–25 development sample and before any 2015–2023 window was run.</a:t>
            </a:r>
            <a:endParaRPr lang="en-US" sz="130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RESULTS · Q1</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Announcements are absorbed more by trades than usual</a:t>
            </a:r>
            <a:endParaRPr lang="en-US" sz="2800" dirty="0"/>
          </a:p>
        </p:txBody>
      </p:sp>
      <p:pic>
        <p:nvPicPr>
          <p:cNvPr id="5" name="Image 0" descr="Box plots of the quote-revision share at the arrival by release class and sample, with the placebo two minutes earlier">    </p:cNvPr>
          <p:cNvPicPr>
            <a:picLocks noChangeAspect="1"/>
          </p:cNvPicPr>
          <p:nvPr/>
        </p:nvPicPr>
        <p:blipFill>
          <a:blip r:embed="rId1"/>
          <a:stretch>
            <a:fillRect/>
          </a:stretch>
        </p:blipFill>
        <p:spPr>
          <a:xfrm>
            <a:off x="813816" y="1783080"/>
            <a:ext cx="10564063" cy="2488650"/>
          </a:xfrm>
          <a:prstGeom prst="rect">
            <a:avLst/>
          </a:prstGeom>
        </p:spPr>
      </p:pic>
      <p:sp>
        <p:nvSpPr>
          <p:cNvPr id="6" name="Text 2"/>
          <p:cNvSpPr txBox="1"/>
          <p:nvPr/>
        </p:nvSpPr>
        <p:spPr>
          <a:xfrm>
            <a:off x="813816" y="4344882"/>
            <a:ext cx="10564063" cy="274320"/>
          </a:xfrm>
          <a:prstGeom prst="rect">
            <a:avLst/>
          </a:prstGeom>
          <a:noFill/>
          <a:ln/>
        </p:spPr>
        <p:txBody>
          <a:bodyPr wrap="square" lIns="0" tIns="0" rIns="0" bIns="0" rtlCol="0" anchor="t"/>
          <a:lstStyle/>
          <a:p>
            <a:pPr indent="0" marL="0">
              <a:buNone/>
            </a:pPr>
            <a:r>
              <a:rPr lang="en-US" sz="1000" dirty="0">
                <a:solidFill>
                  <a:srgbClr val="5B6472"/>
                </a:solidFill>
              </a:rPr>
              <a:t>Quote-revision share of the arrival move (100 ms). Blue: announcement; grey: same window two minutes earlier. Dashed 0.70 = H1 threshold, dotted 0.40 = H2 threshold.</a:t>
            </a:r>
            <a:endParaRPr lang="en-US" sz="1000" dirty="0"/>
          </a:p>
        </p:txBody>
      </p:sp>
      <p:sp>
        <p:nvSpPr>
          <p:cNvPr id="7" name="Text 3"/>
          <p:cNvSpPr txBox="1"/>
          <p:nvPr/>
        </p:nvSpPr>
        <p:spPr>
          <a:xfrm>
            <a:off x="813816" y="4617720"/>
            <a:ext cx="3338474" cy="566928"/>
          </a:xfrm>
          <a:prstGeom prst="rect">
            <a:avLst/>
          </a:prstGeom>
          <a:noFill/>
          <a:ln/>
        </p:spPr>
        <p:txBody>
          <a:bodyPr wrap="square" lIns="0" tIns="0" rIns="0" bIns="0" rtlCol="0" anchor="b"/>
          <a:lstStyle/>
          <a:p>
            <a:pPr indent="0" marL="0">
              <a:buNone/>
            </a:pPr>
            <a:r>
              <a:rPr lang="en-US" sz="3000" dirty="0">
                <a:solidFill>
                  <a:srgbClr val="2B5C9E"/>
                </a:solidFill>
              </a:rPr>
              <a:t>0.32 vs 0.50</a:t>
            </a:r>
            <a:endParaRPr lang="en-US" sz="3000" dirty="0"/>
          </a:p>
        </p:txBody>
      </p:sp>
      <p:sp>
        <p:nvSpPr>
          <p:cNvPr id="8" name="Text 4"/>
          <p:cNvSpPr txBox="1"/>
          <p:nvPr/>
        </p:nvSpPr>
        <p:spPr>
          <a:xfrm>
            <a:off x="813816" y="5239512"/>
            <a:ext cx="3338474" cy="566928"/>
          </a:xfrm>
          <a:prstGeom prst="rect">
            <a:avLst/>
          </a:prstGeom>
          <a:noFill/>
          <a:ln/>
        </p:spPr>
        <p:txBody>
          <a:bodyPr wrap="square" lIns="0" tIns="0" rIns="0" bIns="0" rtlCol="0" anchor="t"/>
          <a:lstStyle/>
          <a:p>
            <a:pPr indent="0" marL="0">
              <a:buNone/>
            </a:pPr>
            <a:r>
              <a:rPr lang="en-US" sz="1150" dirty="0">
                <a:solidFill>
                  <a:srgbClr val="3A4453"/>
                </a:solidFill>
              </a:rPr>
              <a:t>median S for CPI and PPI releases, 2015–2023, against control days</a:t>
            </a:r>
            <a:endParaRPr lang="en-US" sz="1150" dirty="0"/>
          </a:p>
        </p:txBody>
      </p:sp>
      <p:sp>
        <p:nvSpPr>
          <p:cNvPr id="9" name="Text 5"/>
          <p:cNvSpPr txBox="1"/>
          <p:nvPr/>
        </p:nvSpPr>
        <p:spPr>
          <a:xfrm>
            <a:off x="4426610" y="4617720"/>
            <a:ext cx="3338474" cy="566928"/>
          </a:xfrm>
          <a:prstGeom prst="rect">
            <a:avLst/>
          </a:prstGeom>
          <a:noFill/>
          <a:ln/>
        </p:spPr>
        <p:txBody>
          <a:bodyPr wrap="square" lIns="0" tIns="0" rIns="0" bIns="0" rtlCol="0" anchor="b"/>
          <a:lstStyle/>
          <a:p>
            <a:pPr indent="0" marL="0">
              <a:buNone/>
            </a:pPr>
            <a:r>
              <a:rPr lang="en-US" sz="3000" dirty="0">
                <a:solidFill>
                  <a:srgbClr val="2B5C9E"/>
                </a:solidFill>
              </a:rPr>
              <a:t>−0.25</a:t>
            </a:r>
            <a:endParaRPr lang="en-US" sz="3000" dirty="0"/>
          </a:p>
        </p:txBody>
      </p:sp>
      <p:sp>
        <p:nvSpPr>
          <p:cNvPr id="10" name="Text 6"/>
          <p:cNvSpPr txBox="1"/>
          <p:nvPr/>
        </p:nvSpPr>
        <p:spPr>
          <a:xfrm>
            <a:off x="4426610" y="5239512"/>
            <a:ext cx="3338474" cy="566928"/>
          </a:xfrm>
          <a:prstGeom prst="rect">
            <a:avLst/>
          </a:prstGeom>
          <a:noFill/>
          <a:ln/>
        </p:spPr>
        <p:txBody>
          <a:bodyPr wrap="square" lIns="0" tIns="0" rIns="0" bIns="0" rtlCol="0" anchor="t"/>
          <a:lstStyle/>
          <a:p>
            <a:pPr indent="0" marL="0">
              <a:buNone/>
            </a:pPr>
            <a:r>
              <a:rPr lang="en-US" sz="1150" dirty="0">
                <a:solidFill>
                  <a:srgbClr val="3A4453"/>
                </a:solidFill>
              </a:rPr>
              <a:t>FOMC statement minus its own pseudo clock, out of sample (n = 71, Holm 0.003)</a:t>
            </a:r>
            <a:endParaRPr lang="en-US" sz="1150" dirty="0"/>
          </a:p>
        </p:txBody>
      </p:sp>
      <p:sp>
        <p:nvSpPr>
          <p:cNvPr id="11" name="Text 7"/>
          <p:cNvSpPr txBox="1"/>
          <p:nvPr/>
        </p:nvSpPr>
        <p:spPr>
          <a:xfrm>
            <a:off x="8039405" y="4617720"/>
            <a:ext cx="3338474" cy="566928"/>
          </a:xfrm>
          <a:prstGeom prst="rect">
            <a:avLst/>
          </a:prstGeom>
          <a:noFill/>
          <a:ln/>
        </p:spPr>
        <p:txBody>
          <a:bodyPr wrap="square" lIns="0" tIns="0" rIns="0" bIns="0" rtlCol="0" anchor="b"/>
          <a:lstStyle/>
          <a:p>
            <a:pPr indent="0" marL="0">
              <a:buNone/>
            </a:pPr>
            <a:r>
              <a:rPr lang="en-US" sz="3000" dirty="0">
                <a:solidFill>
                  <a:srgbClr val="B85D1C"/>
                </a:solidFill>
              </a:rPr>
              <a:t>0.42</a:t>
            </a:r>
            <a:endParaRPr lang="en-US" sz="3000" dirty="0"/>
          </a:p>
        </p:txBody>
      </p:sp>
      <p:sp>
        <p:nvSpPr>
          <p:cNvPr id="12" name="Text 8"/>
          <p:cNvSpPr txBox="1"/>
          <p:nvPr/>
        </p:nvSpPr>
        <p:spPr>
          <a:xfrm>
            <a:off x="8039405" y="5239512"/>
            <a:ext cx="3338474" cy="566928"/>
          </a:xfrm>
          <a:prstGeom prst="rect">
            <a:avLst/>
          </a:prstGeom>
          <a:noFill/>
          <a:ln/>
        </p:spPr>
        <p:txBody>
          <a:bodyPr wrap="square" lIns="0" tIns="0" rIns="0" bIns="0" rtlCol="0" anchor="t"/>
          <a:lstStyle/>
          <a:p>
            <a:pPr indent="0" marL="0">
              <a:buNone/>
            </a:pPr>
            <a:r>
              <a:rPr lang="en-US" sz="1150" dirty="0">
                <a:solidFill>
                  <a:srgbClr val="3A4453"/>
                </a:solidFill>
              </a:rPr>
              <a:t>press conference: no arrival, no difference from its placebo (p = 0.31)</a:t>
            </a:r>
            <a:endParaRPr lang="en-US" sz="115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RESULTS · H1 AND H2</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Placebo contrasts replicate; the taxonomy does not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3816" y="1920240"/>
          <a:ext cx="10564063" cy="914400"/>
        </p:xfrm>
        <a:graphic>
          <a:graphicData uri="http://schemas.openxmlformats.org/drawingml/2006/table">
            <a:tbl>
              <a:tblPr/>
              <a:tblGrid>
                <a:gridCol w="3520440"/>
                <a:gridCol w="2514600"/>
                <a:gridCol w="2697480"/>
                <a:gridCol w="1828800"/>
              </a:tblGrid>
              <a:tr h="393192">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Contrast (difference in S)</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Development 2024–25</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Out of sample 2015–2023</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Replicated?</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r>
              <a:tr h="393192">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CPI and PPI minus own pseudo clock</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−0.38 (n = 39, Holm 0.0002)</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−0.17 (n = 202, Holm &lt; 0.0001)</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b="1" dirty="0">
                          <a:solidFill>
                            <a:srgbClr val="2B5C9E"/>
                          </a:solidFill>
                          <a:latin typeface="IBM Plex Sans" pitchFamily="34" charset="0"/>
                          <a:ea typeface="IBM Plex Sans" pitchFamily="34" charset="-122"/>
                          <a:cs typeface="IBM Plex Sans" pitchFamily="34" charset="-120"/>
                        </a:rPr>
                        <a:t>Yes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393192">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Jobs report minus own pseudo clock</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−0.31 (n = 38, Holm 0.004)</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−0.21 (n = 107, Holm 0.001)</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b="1" dirty="0">
                          <a:solidFill>
                            <a:srgbClr val="2B5C9E"/>
                          </a:solidFill>
                          <a:latin typeface="IBM Plex Sans" pitchFamily="34" charset="0"/>
                          <a:ea typeface="IBM Plex Sans" pitchFamily="34" charset="-122"/>
                          <a:cs typeface="IBM Plex Sans" pitchFamily="34" charset="-120"/>
                        </a:rPr>
                        <a:t>Yes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393192">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FOMC statement minus own pseudo clock</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−0.22 (n = 13, Holm 0.65)</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−0.25 (n = 71, Holm 0.003)</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b="1" dirty="0">
                          <a:solidFill>
                            <a:srgbClr val="2B5C9E"/>
                          </a:solidFill>
                          <a:latin typeface="IBM Plex Sans" pitchFamily="34" charset="0"/>
                          <a:ea typeface="IBM Plex Sans" pitchFamily="34" charset="-122"/>
                          <a:cs typeface="IBM Plex Sans" pitchFamily="34" charset="-120"/>
                        </a:rPr>
                        <a:t>Yes, now significant</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393192">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Press conference minus own pseudo clock</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−0.17 (n = 13, n.s.)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−0.03 (n = 55, p = 0.31)</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No difference in either</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393192">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Statement minus press conference, same meeting</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−0.05 (n = 13, Holm 0.11)</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−0.20 (n = 55, Holm 0.003)</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b="1" dirty="0">
                          <a:solidFill>
                            <a:srgbClr val="2B5C9E"/>
                          </a:solidFill>
                          <a:latin typeface="IBM Plex Sans" pitchFamily="34" charset="0"/>
                          <a:ea typeface="IBM Plex Sans" pitchFamily="34" charset="-122"/>
                          <a:cs typeface="IBM Plex Sans" pitchFamily="34" charset="-120"/>
                        </a:rPr>
                        <a:t>Yes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393192">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Scalar minus narrative</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−0.23 (n.s.)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+0.10 (Holm 0.014)</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b="1" dirty="0">
                          <a:solidFill>
                            <a:srgbClr val="B85D1C"/>
                          </a:solidFill>
                          <a:latin typeface="IBM Plex Sans" pitchFamily="34" charset="0"/>
                          <a:ea typeface="IBM Plex Sans" pitchFamily="34" charset="-122"/>
                          <a:cs typeface="IBM Plex Sans" pitchFamily="34" charset="-120"/>
                        </a:rPr>
                        <a:t>Sign differs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393192">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Scalar minus multi-dimensional</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−0.04 (n.s.)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+0.08 (Holm 0.029)</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b="1" dirty="0">
                          <a:solidFill>
                            <a:srgbClr val="B85D1C"/>
                          </a:solidFill>
                          <a:latin typeface="IBM Plex Sans" pitchFamily="34" charset="0"/>
                          <a:ea typeface="IBM Plex Sans" pitchFamily="34" charset="-122"/>
                          <a:cs typeface="IBM Plex Sans" pitchFamily="34" charset="-120"/>
                        </a:rPr>
                        <a:t>Sign differs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bl>
          </a:graphicData>
        </a:graphic>
      </p:graphicFrame>
      <p:sp>
        <p:nvSpPr>
          <p:cNvPr id="6" name="caveat"/>
          <p:cNvSpPr/>
          <p:nvPr/>
        </p:nvSpPr>
        <p:spPr>
          <a:xfrm>
            <a:off x="813816" y="5257800"/>
            <a:ext cx="10564063" cy="731520"/>
          </a:xfrm>
          <a:prstGeom prst="rect">
            <a:avLst/>
          </a:prstGeom>
          <a:solidFill>
            <a:srgbClr val="EBE7DE"/>
          </a:solidFill>
          <a:ln/>
        </p:spPr>
      </p:sp>
      <p:sp>
        <p:nvSpPr>
          <p:cNvPr id="7" name="caveat-mark"/>
          <p:cNvSpPr/>
          <p:nvPr/>
        </p:nvSpPr>
        <p:spPr>
          <a:xfrm>
            <a:off x="813816" y="5257800"/>
            <a:ext cx="45720" cy="731520"/>
          </a:xfrm>
          <a:prstGeom prst="rect">
            <a:avLst/>
          </a:prstGeom>
          <a:solidFill>
            <a:srgbClr val="D98A4A"/>
          </a:solidFill>
          <a:ln/>
        </p:spPr>
      </p:sp>
      <p:sp>
        <p:nvSpPr>
          <p:cNvPr id="8" name="Text 4"/>
          <p:cNvSpPr txBox="1"/>
          <p:nvPr/>
        </p:nvSpPr>
        <p:spPr>
          <a:xfrm>
            <a:off x="1088136" y="5257800"/>
            <a:ext cx="10106863" cy="731520"/>
          </a:xfrm>
          <a:prstGeom prst="rect">
            <a:avLst/>
          </a:prstGeom>
          <a:noFill/>
          <a:ln/>
        </p:spPr>
        <p:txBody>
          <a:bodyPr wrap="square" lIns="0" tIns="0" rIns="0" bIns="0" rtlCol="0" anchor="ctr"/>
          <a:lstStyle/>
          <a:p>
            <a:pPr indent="0" marL="0">
              <a:buNone/>
            </a:pPr>
            <a:r>
              <a:rPr lang="en-US" sz="1300" b="1" dirty="0">
                <a:solidFill>
                  <a:srgbClr val="16202E"/>
                </a:solidFill>
              </a:rPr>
              <a:t>Reading: </a:t>
            </a:r>
            <a:pPr indent="0" marL="0">
              <a:buNone/>
            </a:pPr>
            <a:r>
              <a:rPr lang="en-US" sz="1300" dirty="0">
                <a:solidFill>
                  <a:srgbClr val="16202E"/>
                </a:solidFill>
              </a:rPr>
              <a:t>an announcement with a clock is absorbed mostly by trades, for a single number as well as for a statement. The scalar-over-narrative gap is small and unstable, so H1 and H2 as written do not hold.</a:t>
            </a:r>
            <a:endParaRPr lang="en-US" sz="130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RESULTS · MACRO 2015–2026</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Releases arrive a second late and are absorbed faster</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13816" y="1965960"/>
          <a:ext cx="6949440" cy="914400"/>
        </p:xfrm>
        <a:graphic>
          <a:graphicData uri="http://schemas.openxmlformats.org/drawingml/2006/table">
            <a:tbl>
              <a:tblPr/>
              <a:tblGrid>
                <a:gridCol w="2971800"/>
                <a:gridCol w="1325880"/>
                <a:gridCol w="1325880"/>
                <a:gridCol w="1325880"/>
              </a:tblGrid>
              <a:tr h="475488">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Medians, 2015–2026</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algn="ctr" indent="0" marL="0">
                        <a:buNone/>
                      </a:pPr>
                      <a:r>
                        <a:rPr lang="en-US" sz="1050" b="1" dirty="0">
                          <a:solidFill>
                            <a:srgbClr val="5B6472"/>
                          </a:solidFill>
                          <a:latin typeface="IBM Plex Sans" pitchFamily="34" charset="0"/>
                          <a:ea typeface="IBM Plex Sans" pitchFamily="34" charset="-122"/>
                          <a:cs typeface="IBM Plex Sans" pitchFamily="34" charset="-120"/>
                        </a:rPr>
                        <a:t>ES</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algn="ctr" indent="0" marL="0">
                        <a:buNone/>
                      </a:pPr>
                      <a:r>
                        <a:rPr lang="en-US" sz="1050" b="1" dirty="0">
                          <a:solidFill>
                            <a:srgbClr val="5B6472"/>
                          </a:solidFill>
                          <a:latin typeface="IBM Plex Sans" pitchFamily="34" charset="0"/>
                          <a:ea typeface="IBM Plex Sans" pitchFamily="34" charset="-122"/>
                          <a:cs typeface="IBM Plex Sans" pitchFamily="34" charset="-120"/>
                        </a:rPr>
                        <a:t>NQ</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algn="ctr" indent="0" marL="0">
                        <a:buNone/>
                      </a:pPr>
                      <a:r>
                        <a:rPr lang="en-US" sz="1050" b="1" dirty="0">
                          <a:solidFill>
                            <a:srgbClr val="5B6472"/>
                          </a:solidFill>
                          <a:latin typeface="IBM Plex Sans" pitchFamily="34" charset="0"/>
                          <a:ea typeface="IBM Plex Sans" pitchFamily="34" charset="-122"/>
                          <a:cs typeface="IBM Plex Sans" pitchFamily="34" charset="-120"/>
                        </a:rPr>
                        <a:t>ZN</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r>
              <a:tr h="475488">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Arrival after 8:30:00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1.31 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1.35 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1.27 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475488">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|Move| after 5 s / 60 s / 5 min, bp</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5.2 / 9.0 / 11.7</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6.4 / 10.3 / 14.3</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7.9 / 9.2 / 10.3</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475488">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Time to half / 90% of the 5-min move</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6.8 s / 31 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7.4 s / 38 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1.5 s / 10 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475488">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First-quote share of the 5-min move</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0.000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0.000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0.000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475488">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Releases with that share above 70%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0.9%</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2.3%</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0.0%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475488">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S at arrival / at pseudo clock</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0.19 / 0.50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0.29 / 0.66</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0.15 / 0.50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bl>
          </a:graphicData>
        </a:graphic>
      </p:graphicFrame>
      <p:sp>
        <p:nvSpPr>
          <p:cNvPr id="6" name="card"/>
          <p:cNvSpPr/>
          <p:nvPr/>
        </p:nvSpPr>
        <p:spPr>
          <a:xfrm>
            <a:off x="8083296" y="1965960"/>
            <a:ext cx="3294583" cy="3886200"/>
          </a:xfrm>
          <a:prstGeom prst="roundRect">
            <a:avLst>
              <a:gd name="adj" fmla="val 1665"/>
            </a:avLst>
          </a:prstGeom>
          <a:solidFill>
            <a:srgbClr val="FBFAF7"/>
          </a:solidFill>
          <a:ln w="9525">
            <a:solidFill>
              <a:srgbClr val="E3E1DC"/>
            </a:solidFill>
            <a:prstDash val="solid"/>
          </a:ln>
        </p:spPr>
      </p:sp>
      <p:sp>
        <p:nvSpPr>
          <p:cNvPr id="7" name="Text 3"/>
          <p:cNvSpPr txBox="1"/>
          <p:nvPr/>
        </p:nvSpPr>
        <p:spPr>
          <a:xfrm>
            <a:off x="8357616" y="2148840"/>
            <a:ext cx="2745943" cy="256032"/>
          </a:xfrm>
          <a:prstGeom prst="rect">
            <a:avLst/>
          </a:prstGeom>
          <a:noFill/>
          <a:ln/>
        </p:spPr>
        <p:txBody>
          <a:bodyPr wrap="square" lIns="0" tIns="0" rIns="0" bIns="0" rtlCol="0" anchor="t"/>
          <a:lstStyle/>
          <a:p>
            <a:pPr indent="0" marL="0">
              <a:buNone/>
            </a:pPr>
            <a:r>
              <a:rPr lang="en-US" sz="1050" b="1" dirty="0">
                <a:solidFill>
                  <a:srgbClr val="2B5C9E"/>
                </a:solidFill>
              </a:rPr>
              <a:t>ABSORPTION GOT FASTER</a:t>
            </a:r>
            <a:endParaRPr lang="en-US" sz="1050" dirty="0"/>
          </a:p>
        </p:txBody>
      </p:sp>
      <p:sp>
        <p:nvSpPr>
          <p:cNvPr id="8" name="Text 4"/>
          <p:cNvSpPr txBox="1"/>
          <p:nvPr/>
        </p:nvSpPr>
        <p:spPr>
          <a:xfrm>
            <a:off x="8357616" y="2468880"/>
            <a:ext cx="2745943" cy="640080"/>
          </a:xfrm>
          <a:prstGeom prst="rect">
            <a:avLst/>
          </a:prstGeom>
          <a:noFill/>
          <a:ln/>
        </p:spPr>
        <p:txBody>
          <a:bodyPr wrap="square" lIns="0" tIns="0" rIns="0" bIns="0" rtlCol="0" anchor="b"/>
          <a:lstStyle/>
          <a:p>
            <a:pPr indent="0" marL="0">
              <a:buNone/>
            </a:pPr>
            <a:r>
              <a:rPr lang="en-US" sz="3200" dirty="0">
                <a:solidFill>
                  <a:srgbClr val="2B5C9E"/>
                </a:solidFill>
              </a:rPr>
              <a:t>13.8 s → 1.3 s</a:t>
            </a:r>
            <a:endParaRPr lang="en-US" sz="3200" dirty="0"/>
          </a:p>
        </p:txBody>
      </p:sp>
      <p:sp>
        <p:nvSpPr>
          <p:cNvPr id="9" name="Text 5"/>
          <p:cNvSpPr txBox="1"/>
          <p:nvPr/>
        </p:nvSpPr>
        <p:spPr>
          <a:xfrm>
            <a:off x="8357616" y="3154680"/>
            <a:ext cx="2745943" cy="548640"/>
          </a:xfrm>
          <a:prstGeom prst="rect">
            <a:avLst/>
          </a:prstGeom>
          <a:noFill/>
          <a:ln/>
        </p:spPr>
        <p:txBody>
          <a:bodyPr wrap="square" lIns="0" tIns="0" rIns="0" bIns="0" rtlCol="0" anchor="t"/>
          <a:lstStyle/>
          <a:p>
            <a:pPr indent="0" marL="0">
              <a:buNone/>
            </a:pPr>
            <a:r>
              <a:rPr lang="en-US" sz="1150" dirty="0">
                <a:solidFill>
                  <a:srgbClr val="3A4453"/>
                </a:solidFill>
              </a:rPr>
              <a:t>ES time to half of the five-minute move, 2015–2019 vs 2024–2026</a:t>
            </a:r>
            <a:endParaRPr lang="en-US" sz="1150" dirty="0"/>
          </a:p>
        </p:txBody>
      </p:sp>
      <p:sp>
        <p:nvSpPr>
          <p:cNvPr id="10" name="Text 6"/>
          <p:cNvSpPr txBox="1"/>
          <p:nvPr/>
        </p:nvSpPr>
        <p:spPr>
          <a:xfrm>
            <a:off x="8357616" y="3931920"/>
            <a:ext cx="2745943" cy="640080"/>
          </a:xfrm>
          <a:prstGeom prst="rect">
            <a:avLst/>
          </a:prstGeom>
          <a:noFill/>
          <a:ln/>
        </p:spPr>
        <p:txBody>
          <a:bodyPr wrap="square" lIns="0" tIns="0" rIns="0" bIns="0" rtlCol="0" anchor="b"/>
          <a:lstStyle/>
          <a:p>
            <a:pPr indent="0" marL="0">
              <a:buNone/>
            </a:pPr>
            <a:r>
              <a:rPr lang="en-US" sz="3200" dirty="0">
                <a:solidFill>
                  <a:srgbClr val="2B5C9E"/>
                </a:solidFill>
              </a:rPr>
              <a:t>437 / 112</a:t>
            </a:r>
            <a:endParaRPr lang="en-US" sz="3200" dirty="0"/>
          </a:p>
        </p:txBody>
      </p:sp>
      <p:sp>
        <p:nvSpPr>
          <p:cNvPr id="11" name="Text 7"/>
          <p:cNvSpPr txBox="1"/>
          <p:nvPr/>
        </p:nvSpPr>
        <p:spPr>
          <a:xfrm>
            <a:off x="8357616" y="4617720"/>
            <a:ext cx="2745943" cy="731520"/>
          </a:xfrm>
          <a:prstGeom prst="rect">
            <a:avLst/>
          </a:prstGeom>
          <a:noFill/>
          <a:ln/>
        </p:spPr>
        <p:txBody>
          <a:bodyPr wrap="square" lIns="0" tIns="0" rIns="0" bIns="0" rtlCol="0" anchor="t"/>
          <a:lstStyle/>
          <a:p>
            <a:pPr indent="0" marL="0">
              <a:buNone/>
            </a:pPr>
            <a:r>
              <a:rPr lang="en-US" sz="1150" dirty="0">
                <a:solidFill>
                  <a:srgbClr val="3A4453"/>
                </a:solidFill>
              </a:rPr>
              <a:t>release mornings / control mornings; vendor-degraded days excluded from every test</a:t>
            </a:r>
            <a:endParaRPr lang="en-US" sz="115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RESULTS · H4 · MACRO</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Before 8:30, ES and ZN pull depth; NQ widens its spread</a:t>
            </a:r>
            <a:endParaRPr lang="en-US" sz="2800" dirty="0"/>
          </a:p>
        </p:txBody>
      </p:sp>
      <p:graphicFrame>
        <p:nvGraphicFramePr>
          <p:cNvPr id="5" name="Chart 0" descr=""/>
          <p:cNvGraphicFramePr/>
          <p:nvPr/>
        </p:nvGraphicFramePr>
        <p:xfrm>
          <a:off x="813816" y="1874520"/>
          <a:ext cx="6583680" cy="416052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763256" y="1874520"/>
            <a:ext cx="3614623" cy="4160520"/>
          </a:xfrm>
          <a:prstGeom prst="roundRect">
            <a:avLst>
              <a:gd name="adj" fmla="val 1518"/>
            </a:avLst>
          </a:prstGeom>
          <a:solidFill>
            <a:srgbClr val="FBFAF7"/>
          </a:solidFill>
          <a:ln w="9525">
            <a:solidFill>
              <a:srgbClr val="E3E1DC"/>
            </a:solidFill>
            <a:prstDash val="solid"/>
          </a:ln>
        </p:spPr>
      </p:sp>
      <p:sp>
        <p:nvSpPr>
          <p:cNvPr id="7" name="Text 3"/>
          <p:cNvSpPr txBox="1"/>
          <p:nvPr/>
        </p:nvSpPr>
        <p:spPr>
          <a:xfrm>
            <a:off x="8037576" y="2011680"/>
            <a:ext cx="3065983" cy="566928"/>
          </a:xfrm>
          <a:prstGeom prst="rect">
            <a:avLst/>
          </a:prstGeom>
          <a:noFill/>
          <a:ln/>
        </p:spPr>
        <p:txBody>
          <a:bodyPr wrap="square" lIns="0" tIns="0" rIns="0" bIns="0" rtlCol="0" anchor="b"/>
          <a:lstStyle/>
          <a:p>
            <a:pPr indent="0" marL="0">
              <a:buNone/>
            </a:pPr>
            <a:r>
              <a:rPr lang="en-US" sz="3000" dirty="0">
                <a:solidFill>
                  <a:srgbClr val="2B5C9E"/>
                </a:solidFill>
              </a:rPr>
              <a:t>93 / 112</a:t>
            </a:r>
            <a:endParaRPr lang="en-US" sz="3000" dirty="0"/>
          </a:p>
        </p:txBody>
      </p:sp>
      <p:sp>
        <p:nvSpPr>
          <p:cNvPr id="8" name="Text 4"/>
          <p:cNvSpPr txBox="1"/>
          <p:nvPr/>
        </p:nvSpPr>
        <p:spPr>
          <a:xfrm>
            <a:off x="8037576" y="2633472"/>
            <a:ext cx="3065983" cy="566928"/>
          </a:xfrm>
          <a:prstGeom prst="rect">
            <a:avLst/>
          </a:prstGeom>
          <a:noFill/>
          <a:ln/>
        </p:spPr>
        <p:txBody>
          <a:bodyPr wrap="square" lIns="0" tIns="0" rIns="0" bIns="0" rtlCol="0" anchor="t"/>
          <a:lstStyle/>
          <a:p>
            <a:pPr indent="0" marL="0">
              <a:buNone/>
            </a:pPr>
            <a:r>
              <a:rPr lang="en-US" sz="1150" dirty="0">
                <a:solidFill>
                  <a:srgbClr val="3A4453"/>
                </a:solidFill>
              </a:rPr>
              <a:t>months with lower ES depth on release mornings: −0.26 (95% CI −0.31, −0.20)</a:t>
            </a:r>
            <a:endParaRPr lang="en-US" sz="1150" dirty="0"/>
          </a:p>
        </p:txBody>
      </p:sp>
      <p:sp>
        <p:nvSpPr>
          <p:cNvPr id="9" name="Text 5"/>
          <p:cNvSpPr txBox="1"/>
          <p:nvPr/>
        </p:nvSpPr>
        <p:spPr>
          <a:xfrm>
            <a:off x="8037576" y="3291840"/>
            <a:ext cx="3065983" cy="566928"/>
          </a:xfrm>
          <a:prstGeom prst="rect">
            <a:avLst/>
          </a:prstGeom>
          <a:noFill/>
          <a:ln/>
        </p:spPr>
        <p:txBody>
          <a:bodyPr wrap="square" lIns="0" tIns="0" rIns="0" bIns="0" rtlCol="0" anchor="b"/>
          <a:lstStyle/>
          <a:p>
            <a:pPr indent="0" marL="0">
              <a:buNone/>
            </a:pPr>
            <a:r>
              <a:rPr lang="en-US" sz="3000" dirty="0">
                <a:solidFill>
                  <a:srgbClr val="2B5C9E"/>
                </a:solidFill>
              </a:rPr>
              <a:t>105 / 112</a:t>
            </a:r>
            <a:endParaRPr lang="en-US" sz="3000" dirty="0"/>
          </a:p>
        </p:txBody>
      </p:sp>
      <p:sp>
        <p:nvSpPr>
          <p:cNvPr id="10" name="Text 6"/>
          <p:cNvSpPr txBox="1"/>
          <p:nvPr/>
        </p:nvSpPr>
        <p:spPr>
          <a:xfrm>
            <a:off x="8037576" y="3913632"/>
            <a:ext cx="3065983" cy="566928"/>
          </a:xfrm>
          <a:prstGeom prst="rect">
            <a:avLst/>
          </a:prstGeom>
          <a:noFill/>
          <a:ln/>
        </p:spPr>
        <p:txBody>
          <a:bodyPr wrap="square" lIns="0" tIns="0" rIns="0" bIns="0" rtlCol="0" anchor="t"/>
          <a:lstStyle/>
          <a:p>
            <a:pPr indent="0" marL="0">
              <a:buNone/>
            </a:pPr>
            <a:r>
              <a:rPr lang="en-US" sz="1150" dirty="0">
                <a:solidFill>
                  <a:srgbClr val="3A4453"/>
                </a:solidFill>
              </a:rPr>
              <a:t>months with lower ZN depth: −0.51 (95% CI −0.55, −0.46)</a:t>
            </a:r>
            <a:endParaRPr lang="en-US" sz="1150" dirty="0"/>
          </a:p>
        </p:txBody>
      </p:sp>
      <p:sp>
        <p:nvSpPr>
          <p:cNvPr id="11" name="Text 7"/>
          <p:cNvSpPr txBox="1"/>
          <p:nvPr/>
        </p:nvSpPr>
        <p:spPr>
          <a:xfrm>
            <a:off x="8037576" y="4572000"/>
            <a:ext cx="3065983" cy="566928"/>
          </a:xfrm>
          <a:prstGeom prst="rect">
            <a:avLst/>
          </a:prstGeom>
          <a:noFill/>
          <a:ln/>
        </p:spPr>
        <p:txBody>
          <a:bodyPr wrap="square" lIns="0" tIns="0" rIns="0" bIns="0" rtlCol="0" anchor="b"/>
          <a:lstStyle/>
          <a:p>
            <a:pPr indent="0" marL="0">
              <a:buNone/>
            </a:pPr>
            <a:r>
              <a:rPr lang="en-US" sz="3000" dirty="0">
                <a:solidFill>
                  <a:srgbClr val="B85D1C"/>
                </a:solidFill>
              </a:rPr>
              <a:t>+2.41 ticks</a:t>
            </a:r>
            <a:endParaRPr lang="en-US" sz="3000" dirty="0"/>
          </a:p>
        </p:txBody>
      </p:sp>
      <p:sp>
        <p:nvSpPr>
          <p:cNvPr id="12" name="Text 8"/>
          <p:cNvSpPr txBox="1"/>
          <p:nvPr/>
        </p:nvSpPr>
        <p:spPr>
          <a:xfrm>
            <a:off x="8037576" y="5193792"/>
            <a:ext cx="3065983" cy="566928"/>
          </a:xfrm>
          <a:prstGeom prst="rect">
            <a:avLst/>
          </a:prstGeom>
          <a:noFill/>
          <a:ln/>
        </p:spPr>
        <p:txBody>
          <a:bodyPr wrap="square" lIns="0" tIns="0" rIns="0" bIns="0" rtlCol="0" anchor="t"/>
          <a:lstStyle/>
          <a:p>
            <a:pPr indent="0" marL="0">
              <a:buNone/>
            </a:pPr>
            <a:r>
              <a:rPr lang="en-US" sz="1150" dirty="0">
                <a:solidFill>
                  <a:srgbClr val="3A4453"/>
                </a:solidFill>
              </a:rPr>
              <a:t>NQ spread change vs control mornings (95% CI 1.99, 2.86)</a:t>
            </a:r>
            <a:endParaRPr lang="en-US" sz="115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RESULTS · H4 · FOMC</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FOMC withdrawal holds against 2015–2026 control days</a:t>
            </a:r>
            <a:endParaRPr lang="en-US" sz="2800" dirty="0"/>
          </a:p>
        </p:txBody>
      </p:sp>
      <p:graphicFrame>
        <p:nvGraphicFramePr>
          <p:cNvPr id="5" name="Chart 0" descr=""/>
          <p:cNvGraphicFramePr/>
          <p:nvPr/>
        </p:nvGraphicFramePr>
        <p:xfrm>
          <a:off x="813816" y="1874520"/>
          <a:ext cx="6583680" cy="416052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763256" y="1874520"/>
            <a:ext cx="3614623" cy="4160520"/>
          </a:xfrm>
          <a:prstGeom prst="roundRect">
            <a:avLst>
              <a:gd name="adj" fmla="val 1518"/>
            </a:avLst>
          </a:prstGeom>
          <a:solidFill>
            <a:srgbClr val="FBFAF7"/>
          </a:solidFill>
          <a:ln w="9525">
            <a:solidFill>
              <a:srgbClr val="E3E1DC"/>
            </a:solidFill>
            <a:prstDash val="solid"/>
          </a:ln>
        </p:spPr>
      </p:sp>
      <p:sp>
        <p:nvSpPr>
          <p:cNvPr id="7" name="Text 3"/>
          <p:cNvSpPr txBox="1"/>
          <p:nvPr/>
        </p:nvSpPr>
        <p:spPr>
          <a:xfrm>
            <a:off x="8037576" y="2057400"/>
            <a:ext cx="3065983" cy="256032"/>
          </a:xfrm>
          <a:prstGeom prst="rect">
            <a:avLst/>
          </a:prstGeom>
          <a:noFill/>
          <a:ln/>
        </p:spPr>
        <p:txBody>
          <a:bodyPr wrap="square" lIns="0" tIns="0" rIns="0" bIns="0" rtlCol="0" anchor="t"/>
          <a:lstStyle/>
          <a:p>
            <a:pPr indent="0" marL="0">
              <a:buNone/>
            </a:pPr>
            <a:r>
              <a:rPr lang="en-US" sz="1050" b="1" dirty="0">
                <a:solidFill>
                  <a:srgbClr val="2B5C9E"/>
                </a:solidFill>
              </a:rPr>
              <a:t>2015–2026, 90 MEETINGS</a:t>
            </a:r>
            <a:endParaRPr lang="en-US" sz="1050" dirty="0"/>
          </a:p>
        </p:txBody>
      </p:sp>
      <p:sp>
        <p:nvSpPr>
          <p:cNvPr id="8" name="Text 4"/>
          <p:cNvSpPr txBox="1"/>
          <p:nvPr/>
        </p:nvSpPr>
        <p:spPr>
          <a:xfrm>
            <a:off x="8037576" y="2423160"/>
            <a:ext cx="1463040" cy="640080"/>
          </a:xfrm>
          <a:prstGeom prst="rect">
            <a:avLst/>
          </a:prstGeom>
          <a:noFill/>
          <a:ln/>
        </p:spPr>
        <p:txBody>
          <a:bodyPr wrap="square" lIns="0" tIns="0" rIns="0" bIns="0" rtlCol="0" anchor="ctr"/>
          <a:lstStyle/>
          <a:p>
            <a:pPr indent="0" marL="0">
              <a:buNone/>
            </a:pPr>
            <a:r>
              <a:rPr lang="en-US" sz="3200" dirty="0">
                <a:solidFill>
                  <a:srgbClr val="2B5C9E"/>
                </a:solidFill>
              </a:rPr>
              <a:t>0.28</a:t>
            </a:r>
            <a:endParaRPr lang="en-US" sz="3200" dirty="0"/>
          </a:p>
        </p:txBody>
      </p:sp>
      <p:sp>
        <p:nvSpPr>
          <p:cNvPr id="9" name="Text 5"/>
          <p:cNvSpPr txBox="1"/>
          <p:nvPr/>
        </p:nvSpPr>
        <p:spPr>
          <a:xfrm>
            <a:off x="9546336" y="2423160"/>
            <a:ext cx="1557223" cy="640080"/>
          </a:xfrm>
          <a:prstGeom prst="rect">
            <a:avLst/>
          </a:prstGeom>
          <a:noFill/>
          <a:ln/>
        </p:spPr>
        <p:txBody>
          <a:bodyPr wrap="square" lIns="0" tIns="0" rIns="0" bIns="0" rtlCol="0" anchor="ctr"/>
          <a:lstStyle/>
          <a:p>
            <a:pPr indent="0" marL="0">
              <a:buNone/>
            </a:pPr>
            <a:r>
              <a:rPr lang="en-US" sz="1150" dirty="0">
                <a:solidFill>
                  <a:srgbClr val="3A4453"/>
                </a:solidFill>
              </a:rPr>
              <a:t>ES: depth relative to control days in the final minute</a:t>
            </a:r>
            <a:endParaRPr lang="en-US" sz="1150" dirty="0"/>
          </a:p>
        </p:txBody>
      </p:sp>
      <p:sp>
        <p:nvSpPr>
          <p:cNvPr id="10" name="Text 6"/>
          <p:cNvSpPr txBox="1"/>
          <p:nvPr/>
        </p:nvSpPr>
        <p:spPr>
          <a:xfrm>
            <a:off x="8037576" y="3200400"/>
            <a:ext cx="1463040" cy="640080"/>
          </a:xfrm>
          <a:prstGeom prst="rect">
            <a:avLst/>
          </a:prstGeom>
          <a:noFill/>
          <a:ln/>
        </p:spPr>
        <p:txBody>
          <a:bodyPr wrap="square" lIns="0" tIns="0" rIns="0" bIns="0" rtlCol="0" anchor="ctr"/>
          <a:lstStyle/>
          <a:p>
            <a:pPr indent="0" marL="0">
              <a:buNone/>
            </a:pPr>
            <a:r>
              <a:rPr lang="en-US" sz="3200" dirty="0">
                <a:solidFill>
                  <a:srgbClr val="B85D1C"/>
                </a:solidFill>
              </a:rPr>
              <a:t>0.66</a:t>
            </a:r>
            <a:endParaRPr lang="en-US" sz="3200" dirty="0"/>
          </a:p>
        </p:txBody>
      </p:sp>
      <p:sp>
        <p:nvSpPr>
          <p:cNvPr id="11" name="Text 7"/>
          <p:cNvSpPr txBox="1"/>
          <p:nvPr/>
        </p:nvSpPr>
        <p:spPr>
          <a:xfrm>
            <a:off x="9546336" y="3200400"/>
            <a:ext cx="1557223" cy="640080"/>
          </a:xfrm>
          <a:prstGeom prst="rect">
            <a:avLst/>
          </a:prstGeom>
          <a:noFill/>
          <a:ln/>
        </p:spPr>
        <p:txBody>
          <a:bodyPr wrap="square" lIns="0" tIns="0" rIns="0" bIns="0" rtlCol="0" anchor="ctr"/>
          <a:lstStyle/>
          <a:p>
            <a:pPr indent="0" marL="0">
              <a:buNone/>
            </a:pPr>
            <a:r>
              <a:rPr lang="en-US" sz="1150" dirty="0">
                <a:solidFill>
                  <a:srgbClr val="3A4453"/>
                </a:solidFill>
              </a:rPr>
              <a:t>NQ: depth relative to control days in the final minute</a:t>
            </a:r>
            <a:endParaRPr lang="en-US" sz="1150" dirty="0"/>
          </a:p>
        </p:txBody>
      </p:sp>
      <p:sp>
        <p:nvSpPr>
          <p:cNvPr id="12" name="Text 8"/>
          <p:cNvSpPr txBox="1"/>
          <p:nvPr/>
        </p:nvSpPr>
        <p:spPr>
          <a:xfrm>
            <a:off x="8037576" y="3977640"/>
            <a:ext cx="1463040" cy="640080"/>
          </a:xfrm>
          <a:prstGeom prst="rect">
            <a:avLst/>
          </a:prstGeom>
          <a:noFill/>
          <a:ln/>
        </p:spPr>
        <p:txBody>
          <a:bodyPr wrap="square" lIns="0" tIns="0" rIns="0" bIns="0" rtlCol="0" anchor="ctr"/>
          <a:lstStyle/>
          <a:p>
            <a:pPr indent="0" marL="0">
              <a:buNone/>
            </a:pPr>
            <a:r>
              <a:rPr lang="en-US" sz="3200" dirty="0">
                <a:solidFill>
                  <a:srgbClr val="2B5C9E"/>
                </a:solidFill>
              </a:rPr>
              <a:t>0.08</a:t>
            </a:r>
            <a:endParaRPr lang="en-US" sz="3200" dirty="0"/>
          </a:p>
        </p:txBody>
      </p:sp>
      <p:sp>
        <p:nvSpPr>
          <p:cNvPr id="13" name="Text 9"/>
          <p:cNvSpPr txBox="1"/>
          <p:nvPr/>
        </p:nvSpPr>
        <p:spPr>
          <a:xfrm>
            <a:off x="9546336" y="3977640"/>
            <a:ext cx="1557223" cy="640080"/>
          </a:xfrm>
          <a:prstGeom prst="rect">
            <a:avLst/>
          </a:prstGeom>
          <a:noFill/>
          <a:ln/>
        </p:spPr>
        <p:txBody>
          <a:bodyPr wrap="square" lIns="0" tIns="0" rIns="0" bIns="0" rtlCol="0" anchor="ctr"/>
          <a:lstStyle/>
          <a:p>
            <a:pPr indent="0" marL="0">
              <a:buNone/>
            </a:pPr>
            <a:r>
              <a:rPr lang="en-US" sz="1150" dirty="0">
                <a:solidFill>
                  <a:srgbClr val="3A4453"/>
                </a:solidFill>
              </a:rPr>
              <a:t>ZN: depth relative to control days in the final minute</a:t>
            </a:r>
            <a:endParaRPr lang="en-US" sz="1150" dirty="0"/>
          </a:p>
        </p:txBody>
      </p:sp>
      <p:sp>
        <p:nvSpPr>
          <p:cNvPr id="14" name="Text 10"/>
          <p:cNvSpPr txBox="1"/>
          <p:nvPr/>
        </p:nvSpPr>
        <p:spPr>
          <a:xfrm>
            <a:off x="8037576" y="4846320"/>
            <a:ext cx="3065983" cy="1005840"/>
          </a:xfrm>
          <a:prstGeom prst="rect">
            <a:avLst/>
          </a:prstGeom>
          <a:noFill/>
          <a:ln/>
        </p:spPr>
        <p:txBody>
          <a:bodyPr wrap="square" lIns="0" tIns="0" rIns="0" bIns="0" rtlCol="0" anchor="t"/>
          <a:lstStyle/>
          <a:p>
            <a:pPr indent="0" marL="0">
              <a:buNone/>
            </a:pPr>
            <a:r>
              <a:rPr lang="en-US" sz="1150" dirty="0">
                <a:solidFill>
                  <a:srgbClr val="5B6472"/>
                </a:solidFill>
              </a:rPr>
              <a:t>Within-event, without controls: 92 of 92 statement windows have a depth ratio below 1 (sign p = 2e-28).</a:t>
            </a:r>
            <a:endParaRPr lang="en-US" sz="115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RESULTS · H4 · WHY NQ</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NQ withdraws through its spread, not its depth</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13816" y="1920240"/>
          <a:ext cx="5120640" cy="914400"/>
        </p:xfrm>
        <a:graphic>
          <a:graphicData uri="http://schemas.openxmlformats.org/drawingml/2006/table">
            <a:tbl>
              <a:tblPr/>
              <a:tblGrid>
                <a:gridCol w="2377440"/>
                <a:gridCol w="914400"/>
                <a:gridCol w="914400"/>
                <a:gridCol w="914400"/>
              </a:tblGrid>
              <a:tr h="457200">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FOMC, final 60 s vs control days</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algn="ctr" indent="0" marL="0">
                        <a:buNone/>
                      </a:pPr>
                      <a:r>
                        <a:rPr lang="en-US" sz="1050" b="1" dirty="0">
                          <a:solidFill>
                            <a:srgbClr val="5B6472"/>
                          </a:solidFill>
                          <a:latin typeface="IBM Plex Sans" pitchFamily="34" charset="0"/>
                          <a:ea typeface="IBM Plex Sans" pitchFamily="34" charset="-122"/>
                          <a:cs typeface="IBM Plex Sans" pitchFamily="34" charset="-120"/>
                        </a:rPr>
                        <a:t>ES</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algn="ctr" indent="0" marL="0">
                        <a:buNone/>
                      </a:pPr>
                      <a:r>
                        <a:rPr lang="en-US" sz="1050" b="1" dirty="0">
                          <a:solidFill>
                            <a:srgbClr val="5B6472"/>
                          </a:solidFill>
                          <a:latin typeface="IBM Plex Sans" pitchFamily="34" charset="0"/>
                          <a:ea typeface="IBM Plex Sans" pitchFamily="34" charset="-122"/>
                          <a:cs typeface="IBM Plex Sans" pitchFamily="34" charset="-120"/>
                        </a:rPr>
                        <a:t>NQ</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algn="ctr" indent="0" marL="0">
                        <a:buNone/>
                      </a:pPr>
                      <a:r>
                        <a:rPr lang="en-US" sz="1050" b="1" dirty="0">
                          <a:solidFill>
                            <a:srgbClr val="5B6472"/>
                          </a:solidFill>
                          <a:latin typeface="IBM Plex Sans" pitchFamily="34" charset="0"/>
                          <a:ea typeface="IBM Plex Sans" pitchFamily="34" charset="-122"/>
                          <a:cs typeface="IBM Plex Sans" pitchFamily="34" charset="-120"/>
                        </a:rPr>
                        <a:t>ZN</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r>
              <a:tr h="45720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Normal spread, ticks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1.01</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1.73</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1.00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45720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Time at a one-tick spread</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99%</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42%</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100%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45720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Depth ratio</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0.28</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b="1" dirty="0">
                          <a:solidFill>
                            <a:srgbClr val="B85D1C"/>
                          </a:solidFill>
                          <a:latin typeface="IBM Plex Sans" pitchFamily="34" charset="0"/>
                          <a:ea typeface="IBM Plex Sans" pitchFamily="34" charset="-122"/>
                          <a:cs typeface="IBM Plex Sans" pitchFamily="34" charset="-120"/>
                        </a:rPr>
                        <a:t>0.66</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0.08</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45720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Spread ratio</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1.36</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b="1" dirty="0">
                          <a:solidFill>
                            <a:srgbClr val="B85D1C"/>
                          </a:solidFill>
                          <a:latin typeface="IBM Plex Sans" pitchFamily="34" charset="0"/>
                          <a:ea typeface="IBM Plex Sans" pitchFamily="34" charset="-122"/>
                          <a:cs typeface="IBM Plex Sans" pitchFamily="34" charset="-120"/>
                        </a:rPr>
                        <a:t>2.57</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1.19</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45720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Depth per tick of spread</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b="1" dirty="0">
                          <a:solidFill>
                            <a:srgbClr val="2B5C9E"/>
                          </a:solidFill>
                          <a:latin typeface="IBM Plex Sans" pitchFamily="34" charset="0"/>
                          <a:ea typeface="IBM Plex Sans" pitchFamily="34" charset="-122"/>
                          <a:cs typeface="IBM Plex Sans" pitchFamily="34" charset="-120"/>
                        </a:rPr>
                        <a:t>0.20</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b="1" dirty="0">
                          <a:solidFill>
                            <a:srgbClr val="2B5C9E"/>
                          </a:solidFill>
                          <a:latin typeface="IBM Plex Sans" pitchFamily="34" charset="0"/>
                          <a:ea typeface="IBM Plex Sans" pitchFamily="34" charset="-122"/>
                          <a:cs typeface="IBM Plex Sans" pitchFamily="34" charset="-120"/>
                        </a:rPr>
                        <a:t>0.26</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b="1" dirty="0">
                          <a:solidFill>
                            <a:srgbClr val="2B5C9E"/>
                          </a:solidFill>
                          <a:latin typeface="IBM Plex Sans" pitchFamily="34" charset="0"/>
                          <a:ea typeface="IBM Plex Sans" pitchFamily="34" charset="-122"/>
                          <a:cs typeface="IBM Plex Sans" pitchFamily="34" charset="-120"/>
                        </a:rPr>
                        <a:t>0.07</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bl>
          </a:graphicData>
        </a:graphic>
      </p:graphicFrame>
      <p:sp>
        <p:nvSpPr>
          <p:cNvPr id="6" name="Text 2"/>
          <p:cNvSpPr txBox="1"/>
          <p:nvPr/>
        </p:nvSpPr>
        <p:spPr>
          <a:xfrm>
            <a:off x="813816" y="4846320"/>
            <a:ext cx="5120640" cy="822960"/>
          </a:xfrm>
          <a:prstGeom prst="rect">
            <a:avLst/>
          </a:prstGeom>
          <a:noFill/>
          <a:ln/>
        </p:spPr>
        <p:txBody>
          <a:bodyPr wrap="square" lIns="0" tIns="0" rIns="0" bIns="0" rtlCol="0" anchor="t"/>
          <a:lstStyle/>
          <a:p>
            <a:pPr indent="0" marL="0">
              <a:buNone/>
            </a:pPr>
            <a:r>
              <a:rPr lang="en-US" sz="1250" b="1" dirty="0">
                <a:solidFill>
                  <a:srgbClr val="16202E"/>
                </a:solidFill>
              </a:rPr>
              <a:t>ρ = −0.72 </a:t>
            </a:r>
            <a:pPr indent="0" marL="0">
              <a:buNone/>
            </a:pPr>
            <a:r>
              <a:rPr lang="en-US" sz="1250" dirty="0">
                <a:solidFill>
                  <a:srgbClr val="16202E"/>
                </a:solidFill>
              </a:rPr>
              <a:t>across meetings between NQ's normal one-tick share and how much of its withdrawal shows up as depth</a:t>
            </a:r>
            <a:endParaRPr lang="en-US" sz="1250" dirty="0"/>
          </a:p>
        </p:txBody>
      </p:sp>
      <p:graphicFrame>
        <p:nvGraphicFramePr>
          <p:cNvPr id="7" name="Chart 0" descr=""/>
          <p:cNvGraphicFramePr/>
          <p:nvPr/>
        </p:nvGraphicFramePr>
        <p:xfrm>
          <a:off x="6254496" y="1874520"/>
          <a:ext cx="5123383" cy="41605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RESULTS · H4 · UNSCHEDULED</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No withdrawal before unscheduled news; a shock after it</a:t>
            </a:r>
            <a:endParaRPr lang="en-US" sz="2800" dirty="0"/>
          </a:p>
        </p:txBody>
      </p:sp>
      <p:sp>
        <p:nvSpPr>
          <p:cNvPr id="5" name="card"/>
          <p:cNvSpPr/>
          <p:nvPr/>
        </p:nvSpPr>
        <p:spPr>
          <a:xfrm>
            <a:off x="813816" y="1874520"/>
            <a:ext cx="7589520" cy="2880360"/>
          </a:xfrm>
          <a:prstGeom prst="roundRect">
            <a:avLst>
              <a:gd name="adj" fmla="val 1905"/>
            </a:avLst>
          </a:prstGeom>
          <a:solidFill>
            <a:srgbClr val="FBFAF7"/>
          </a:solidFill>
          <a:ln w="9525">
            <a:solidFill>
              <a:srgbClr val="E3E1DC"/>
            </a:solidFill>
            <a:prstDash val="solid"/>
          </a:ln>
        </p:spPr>
      </p:sp>
      <p:pic>
        <p:nvPicPr>
          <p:cNvPr id="6" name="Image 0" descr="Touch depth relative to control days from 30 minutes before to 15 minutes after the arrival, unscheduled vs FOMC statements">    </p:cNvPr>
          <p:cNvPicPr>
            <a:picLocks noChangeAspect="1"/>
          </p:cNvPicPr>
          <p:nvPr/>
        </p:nvPicPr>
        <p:blipFill>
          <a:blip r:embed="rId1"/>
          <a:stretch>
            <a:fillRect/>
          </a:stretch>
        </p:blipFill>
        <p:spPr>
          <a:xfrm>
            <a:off x="950976" y="2011680"/>
            <a:ext cx="7315200" cy="2194560"/>
          </a:xfrm>
          <a:prstGeom prst="rect">
            <a:avLst/>
          </a:prstGeom>
        </p:spPr>
      </p:pic>
      <p:sp>
        <p:nvSpPr>
          <p:cNvPr id="7" name="Text 3"/>
          <p:cNvSpPr txBox="1"/>
          <p:nvPr/>
        </p:nvSpPr>
        <p:spPr>
          <a:xfrm>
            <a:off x="950976" y="4251960"/>
            <a:ext cx="7315200" cy="411480"/>
          </a:xfrm>
          <a:prstGeom prst="rect">
            <a:avLst/>
          </a:prstGeom>
          <a:noFill/>
          <a:ln/>
        </p:spPr>
        <p:txBody>
          <a:bodyPr wrap="square" lIns="0" tIns="0" rIns="0" bIns="0" rtlCol="0" anchor="t"/>
          <a:lstStyle/>
          <a:p>
            <a:pPr indent="0" marL="0">
              <a:buNone/>
            </a:pPr>
            <a:r>
              <a:rPr lang="en-US" sz="1000" dirty="0">
                <a:solidFill>
                  <a:srgbClr val="5B6472"/>
                </a:solidFill>
              </a:rPr>
              <a:t>Depth, event day ÷ control days, minute by minute. Orange: 107 unscheduled arrivals; blue: 90 FOMC statements.</a:t>
            </a:r>
            <a:endParaRPr lang="en-US" sz="1000" dirty="0"/>
          </a:p>
        </p:txBody>
      </p:sp>
      <p:sp>
        <p:nvSpPr>
          <p:cNvPr id="8" name="Text 4"/>
          <p:cNvSpPr txBox="1"/>
          <p:nvPr/>
        </p:nvSpPr>
        <p:spPr>
          <a:xfrm>
            <a:off x="8677656" y="1828800"/>
            <a:ext cx="2700223" cy="566928"/>
          </a:xfrm>
          <a:prstGeom prst="rect">
            <a:avLst/>
          </a:prstGeom>
          <a:noFill/>
          <a:ln/>
        </p:spPr>
        <p:txBody>
          <a:bodyPr wrap="square" lIns="0" tIns="0" rIns="0" bIns="0" rtlCol="0" anchor="b"/>
          <a:lstStyle/>
          <a:p>
            <a:pPr indent="0" marL="0">
              <a:buNone/>
            </a:pPr>
            <a:r>
              <a:rPr lang="en-US" sz="3000" dirty="0">
                <a:solidFill>
                  <a:srgbClr val="2B5C9E"/>
                </a:solidFill>
              </a:rPr>
              <a:t>0.92</a:t>
            </a:r>
            <a:endParaRPr lang="en-US" sz="3000" dirty="0"/>
          </a:p>
        </p:txBody>
      </p:sp>
      <p:sp>
        <p:nvSpPr>
          <p:cNvPr id="9" name="Text 5"/>
          <p:cNvSpPr txBox="1"/>
          <p:nvPr/>
        </p:nvSpPr>
        <p:spPr>
          <a:xfrm>
            <a:off x="8677656" y="2450592"/>
            <a:ext cx="2700223" cy="566928"/>
          </a:xfrm>
          <a:prstGeom prst="rect">
            <a:avLst/>
          </a:prstGeom>
          <a:noFill/>
          <a:ln/>
        </p:spPr>
        <p:txBody>
          <a:bodyPr wrap="square" lIns="0" tIns="0" rIns="0" bIns="0" rtlCol="0" anchor="t"/>
          <a:lstStyle/>
          <a:p>
            <a:pPr indent="0" marL="0">
              <a:buNone/>
            </a:pPr>
            <a:r>
              <a:rPr lang="en-US" sz="1150" dirty="0">
                <a:solidFill>
                  <a:srgbClr val="3A4453"/>
                </a:solidFill>
              </a:rPr>
              <a:t>ES depth vs control days in the final minute before an unscheduled arrival (0.84–1.01)</a:t>
            </a:r>
            <a:endParaRPr lang="en-US" sz="1150" dirty="0"/>
          </a:p>
        </p:txBody>
      </p:sp>
      <p:sp>
        <p:nvSpPr>
          <p:cNvPr id="10" name="Text 6"/>
          <p:cNvSpPr txBox="1"/>
          <p:nvPr/>
        </p:nvSpPr>
        <p:spPr>
          <a:xfrm>
            <a:off x="8677656" y="3017520"/>
            <a:ext cx="2700223" cy="566928"/>
          </a:xfrm>
          <a:prstGeom prst="rect">
            <a:avLst/>
          </a:prstGeom>
          <a:noFill/>
          <a:ln/>
        </p:spPr>
        <p:txBody>
          <a:bodyPr wrap="square" lIns="0" tIns="0" rIns="0" bIns="0" rtlCol="0" anchor="b"/>
          <a:lstStyle/>
          <a:p>
            <a:pPr indent="0" marL="0">
              <a:buNone/>
            </a:pPr>
            <a:r>
              <a:rPr lang="en-US" sz="3000" dirty="0">
                <a:solidFill>
                  <a:srgbClr val="2B5C9E"/>
                </a:solidFill>
              </a:rPr>
              <a:t>0.99</a:t>
            </a:r>
            <a:endParaRPr lang="en-US" sz="3000" dirty="0"/>
          </a:p>
        </p:txBody>
      </p:sp>
      <p:sp>
        <p:nvSpPr>
          <p:cNvPr id="11" name="Text 7"/>
          <p:cNvSpPr txBox="1"/>
          <p:nvPr/>
        </p:nvSpPr>
        <p:spPr>
          <a:xfrm>
            <a:off x="8677656" y="3639312"/>
            <a:ext cx="2700223" cy="566928"/>
          </a:xfrm>
          <a:prstGeom prst="rect">
            <a:avLst/>
          </a:prstGeom>
          <a:noFill/>
          <a:ln/>
        </p:spPr>
        <p:txBody>
          <a:bodyPr wrap="square" lIns="0" tIns="0" rIns="0" bIns="0" rtlCol="0" anchor="t"/>
          <a:lstStyle/>
          <a:p>
            <a:pPr indent="0" marL="0">
              <a:buNone/>
            </a:pPr>
            <a:r>
              <a:rPr lang="en-US" sz="1150" dirty="0">
                <a:solidFill>
                  <a:srgbClr val="3A4453"/>
                </a:solidFill>
              </a:rPr>
              <a:t>change from 30–10 min before to the final minute (p = 0.41): no run-down</a:t>
            </a:r>
            <a:endParaRPr lang="en-US" sz="1150" dirty="0"/>
          </a:p>
        </p:txBody>
      </p:sp>
      <p:sp>
        <p:nvSpPr>
          <p:cNvPr id="12" name="Text 8"/>
          <p:cNvSpPr txBox="1"/>
          <p:nvPr/>
        </p:nvSpPr>
        <p:spPr>
          <a:xfrm>
            <a:off x="8677656" y="4206240"/>
            <a:ext cx="2700223" cy="566928"/>
          </a:xfrm>
          <a:prstGeom prst="rect">
            <a:avLst/>
          </a:prstGeom>
          <a:noFill/>
          <a:ln/>
        </p:spPr>
        <p:txBody>
          <a:bodyPr wrap="square" lIns="0" tIns="0" rIns="0" bIns="0" rtlCol="0" anchor="b"/>
          <a:lstStyle/>
          <a:p>
            <a:pPr indent="0" marL="0">
              <a:buNone/>
            </a:pPr>
            <a:r>
              <a:rPr lang="en-US" sz="3000" dirty="0">
                <a:solidFill>
                  <a:srgbClr val="B85D1C"/>
                </a:solidFill>
              </a:rPr>
              <a:t>0.65</a:t>
            </a:r>
            <a:endParaRPr lang="en-US" sz="3000" dirty="0"/>
          </a:p>
        </p:txBody>
      </p:sp>
      <p:sp>
        <p:nvSpPr>
          <p:cNvPr id="13" name="Text 9"/>
          <p:cNvSpPr txBox="1"/>
          <p:nvPr/>
        </p:nvSpPr>
        <p:spPr>
          <a:xfrm>
            <a:off x="8677656" y="4828032"/>
            <a:ext cx="2700223" cy="566928"/>
          </a:xfrm>
          <a:prstGeom prst="rect">
            <a:avLst/>
          </a:prstGeom>
          <a:noFill/>
          <a:ln/>
        </p:spPr>
        <p:txBody>
          <a:bodyPr wrap="square" lIns="0" tIns="0" rIns="0" bIns="0" rtlCol="0" anchor="t"/>
          <a:lstStyle/>
          <a:p>
            <a:pPr indent="0" marL="0">
              <a:buNone/>
            </a:pPr>
            <a:r>
              <a:rPr lang="en-US" sz="1150" dirty="0">
                <a:solidFill>
                  <a:srgbClr val="3A4453"/>
                </a:solidFill>
              </a:rPr>
              <a:t>ES depth 1–5 minutes after the arrival: the post-event liquidity shock</a:t>
            </a:r>
            <a:endParaRPr lang="en-US" sz="1150" dirty="0"/>
          </a:p>
        </p:txBody>
      </p:sp>
      <p:sp>
        <p:nvSpPr>
          <p:cNvPr id="14" name="caveat"/>
          <p:cNvSpPr/>
          <p:nvPr/>
        </p:nvSpPr>
        <p:spPr>
          <a:xfrm>
            <a:off x="813816" y="5440680"/>
            <a:ext cx="10564063" cy="640080"/>
          </a:xfrm>
          <a:prstGeom prst="rect">
            <a:avLst/>
          </a:prstGeom>
          <a:solidFill>
            <a:srgbClr val="EBE7DE"/>
          </a:solidFill>
          <a:ln/>
        </p:spPr>
      </p:sp>
      <p:sp>
        <p:nvSpPr>
          <p:cNvPr id="15" name="caveat-mark"/>
          <p:cNvSpPr/>
          <p:nvPr/>
        </p:nvSpPr>
        <p:spPr>
          <a:xfrm>
            <a:off x="813816" y="5440680"/>
            <a:ext cx="45720" cy="640080"/>
          </a:xfrm>
          <a:prstGeom prst="rect">
            <a:avLst/>
          </a:prstGeom>
          <a:solidFill>
            <a:srgbClr val="D98A4A"/>
          </a:solidFill>
          <a:ln/>
        </p:spPr>
      </p:sp>
      <p:sp>
        <p:nvSpPr>
          <p:cNvPr id="16" name="Text 12"/>
          <p:cNvSpPr txBox="1"/>
          <p:nvPr/>
        </p:nvSpPr>
        <p:spPr>
          <a:xfrm>
            <a:off x="1088136" y="5440680"/>
            <a:ext cx="10106863" cy="640080"/>
          </a:xfrm>
          <a:prstGeom prst="rect">
            <a:avLst/>
          </a:prstGeom>
          <a:noFill/>
          <a:ln/>
        </p:spPr>
        <p:txBody>
          <a:bodyPr wrap="square" lIns="0" tIns="0" rIns="0" bIns="0" rtlCol="0" anchor="ctr"/>
          <a:lstStyle/>
          <a:p>
            <a:pPr indent="0" marL="0">
              <a:buNone/>
            </a:pPr>
            <a:r>
              <a:rPr lang="en-US" sz="1300" b="1" dirty="0">
                <a:solidFill>
                  <a:srgbClr val="16202E"/>
                </a:solidFill>
              </a:rPr>
              <a:t>Caveat: </a:t>
            </a:r>
            <a:pPr indent="0" marL="0">
              <a:buNone/>
            </a:pPr>
            <a:r>
              <a:rPr lang="en-US" sz="1300" dirty="0">
                <a:solidFill>
                  <a:srgbClr val="16202E"/>
                </a:solidFill>
              </a:rPr>
              <a:t>arrivals are price-identified jumps, not verified news. They should be labelled against headlines before any single event is quoted.</a:t>
            </a:r>
            <a:endParaRPr lang="en-US" sz="130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METHODOLOGY · H3</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H3 was pre-declared before the survey data were joined</a:t>
            </a:r>
            <a:endParaRPr lang="en-US" sz="2800" dirty="0"/>
          </a:p>
        </p:txBody>
      </p:sp>
      <p:sp>
        <p:nvSpPr>
          <p:cNvPr id="5" name="equation"/>
          <p:cNvSpPr/>
          <p:nvPr/>
        </p:nvSpPr>
        <p:spPr>
          <a:xfrm>
            <a:off x="813816" y="1874520"/>
            <a:ext cx="10564063" cy="685800"/>
          </a:xfrm>
          <a:prstGeom prst="rect">
            <a:avLst/>
          </a:prstGeom>
          <a:solidFill>
            <a:srgbClr val="EBE7DE"/>
          </a:solidFill>
          <a:ln/>
        </p:spPr>
      </p:sp>
      <p:sp>
        <p:nvSpPr>
          <p:cNvPr id="6" name="Text 3"/>
          <p:cNvSpPr txBox="1"/>
          <p:nvPr/>
        </p:nvSpPr>
        <p:spPr>
          <a:xfrm>
            <a:off x="1088136" y="1874520"/>
            <a:ext cx="10015423" cy="685800"/>
          </a:xfrm>
          <a:prstGeom prst="rect">
            <a:avLst/>
          </a:prstGeom>
          <a:noFill/>
          <a:ln/>
        </p:spPr>
        <p:txBody>
          <a:bodyPr wrap="square" lIns="0" tIns="0" rIns="0" bIns="0" rtlCol="0" anchor="ctr"/>
          <a:lstStyle/>
          <a:p>
            <a:pPr indent="0" marL="0">
              <a:buNone/>
            </a:pPr>
            <a:r>
              <a:rPr lang="en-US" sz="1700" dirty="0">
                <a:solidFill>
                  <a:srgbClr val="2B5C9E"/>
                </a:solidFill>
                <a:latin typeface="IBM Plex Mono" pitchFamily="34" charset="0"/>
                <a:ea typeface="IBM Plex Mono" pitchFamily="34" charset="-122"/>
                <a:cs typeface="IBM Plex Mono" pitchFamily="34" charset="-120"/>
              </a:rPr>
              <a:t>S = β·D + γ·|u| + δ·log n + release, contract and period effects + ε</a:t>
            </a:r>
            <a:endParaRPr lang="en-US" sz="1700" dirty="0"/>
          </a:p>
        </p:txBody>
      </p:sp>
      <p:sp>
        <p:nvSpPr>
          <p:cNvPr id="7" name="Text 4"/>
          <p:cNvSpPr txBox="1"/>
          <p:nvPr/>
        </p:nvSpPr>
        <p:spPr>
          <a:xfrm>
            <a:off x="813816" y="2788920"/>
            <a:ext cx="822960" cy="384048"/>
          </a:xfrm>
          <a:prstGeom prst="rect">
            <a:avLst/>
          </a:prstGeom>
          <a:noFill/>
          <a:ln/>
        </p:spPr>
        <p:txBody>
          <a:bodyPr wrap="square" lIns="0" tIns="0" rIns="0" bIns="0" rtlCol="0" anchor="ctr"/>
          <a:lstStyle/>
          <a:p>
            <a:pPr indent="0" marL="0">
              <a:buNone/>
            </a:pPr>
            <a:r>
              <a:rPr lang="en-US" sz="1300" b="1" dirty="0">
                <a:solidFill>
                  <a:srgbClr val="16202E"/>
                </a:solidFill>
                <a:latin typeface="IBM Plex Mono" pitchFamily="34" charset="0"/>
                <a:ea typeface="IBM Plex Mono" pitchFamily="34" charset="-122"/>
                <a:cs typeface="IBM Plex Mono" pitchFamily="34" charset="-120"/>
              </a:rPr>
              <a:t>S</a:t>
            </a:r>
            <a:endParaRPr lang="en-US" sz="1300" dirty="0"/>
          </a:p>
        </p:txBody>
      </p:sp>
      <p:sp>
        <p:nvSpPr>
          <p:cNvPr id="8" name="Text 5"/>
          <p:cNvSpPr txBox="1"/>
          <p:nvPr/>
        </p:nvSpPr>
        <p:spPr>
          <a:xfrm>
            <a:off x="1682496" y="2788920"/>
            <a:ext cx="5120640" cy="384048"/>
          </a:xfrm>
          <a:prstGeom prst="rect">
            <a:avLst/>
          </a:prstGeom>
          <a:noFill/>
          <a:ln/>
        </p:spPr>
        <p:txBody>
          <a:bodyPr wrap="square" lIns="0" tIns="0" rIns="0" bIns="0" rtlCol="0" anchor="ctr"/>
          <a:lstStyle/>
          <a:p>
            <a:pPr indent="0" marL="0">
              <a:buNone/>
            </a:pPr>
            <a:r>
              <a:rPr lang="en-US" sz="1200" dirty="0">
                <a:solidFill>
                  <a:srgbClr val="3A4453"/>
                </a:solidFill>
              </a:rPr>
              <a:t>quote-revision share at the arrival (step 1 measure), one row per morning and contract</a:t>
            </a:r>
            <a:endParaRPr lang="en-US" sz="1200" dirty="0"/>
          </a:p>
        </p:txBody>
      </p:sp>
      <p:sp>
        <p:nvSpPr>
          <p:cNvPr id="9" name="Text 6"/>
          <p:cNvSpPr txBox="1"/>
          <p:nvPr/>
        </p:nvSpPr>
        <p:spPr>
          <a:xfrm>
            <a:off x="813816" y="3246120"/>
            <a:ext cx="822960" cy="384048"/>
          </a:xfrm>
          <a:prstGeom prst="rect">
            <a:avLst/>
          </a:prstGeom>
          <a:noFill/>
          <a:ln/>
        </p:spPr>
        <p:txBody>
          <a:bodyPr wrap="square" lIns="0" tIns="0" rIns="0" bIns="0" rtlCol="0" anchor="ctr"/>
          <a:lstStyle/>
          <a:p>
            <a:pPr indent="0" marL="0">
              <a:buNone/>
            </a:pPr>
            <a:r>
              <a:rPr lang="en-US" sz="1300" b="1" dirty="0">
                <a:solidFill>
                  <a:srgbClr val="16202E"/>
                </a:solidFill>
                <a:latin typeface="IBM Plex Mono" pitchFamily="34" charset="0"/>
                <a:ea typeface="IBM Plex Mono" pitchFamily="34" charset="-122"/>
                <a:cs typeface="IBM Plex Mono" pitchFamily="34" charset="-120"/>
              </a:rPr>
              <a:t>D</a:t>
            </a:r>
            <a:endParaRPr lang="en-US" sz="1300" dirty="0"/>
          </a:p>
        </p:txBody>
      </p:sp>
      <p:sp>
        <p:nvSpPr>
          <p:cNvPr id="10" name="Text 7"/>
          <p:cNvSpPr txBox="1"/>
          <p:nvPr/>
        </p:nvSpPr>
        <p:spPr>
          <a:xfrm>
            <a:off x="1682496" y="3246120"/>
            <a:ext cx="5120640" cy="384048"/>
          </a:xfrm>
          <a:prstGeom prst="rect">
            <a:avLst/>
          </a:prstGeom>
          <a:noFill/>
          <a:ln/>
        </p:spPr>
        <p:txBody>
          <a:bodyPr wrap="square" lIns="0" tIns="0" rIns="0" bIns="0" rtlCol="0" anchor="ctr"/>
          <a:lstStyle/>
          <a:p>
            <a:pPr indent="0" marL="0">
              <a:buNone/>
            </a:pPr>
            <a:r>
              <a:rPr lang="en-US" sz="1200" dirty="0">
                <a:solidFill>
                  <a:srgbClr val="3A4453"/>
                </a:solidFill>
              </a:rPr>
              <a:t>survey high minus low, standardized within series over 2015–2026</a:t>
            </a:r>
            <a:endParaRPr lang="en-US" sz="1200" dirty="0"/>
          </a:p>
        </p:txBody>
      </p:sp>
      <p:sp>
        <p:nvSpPr>
          <p:cNvPr id="11" name="Text 8"/>
          <p:cNvSpPr txBox="1"/>
          <p:nvPr/>
        </p:nvSpPr>
        <p:spPr>
          <a:xfrm>
            <a:off x="813816" y="3703320"/>
            <a:ext cx="822960" cy="384048"/>
          </a:xfrm>
          <a:prstGeom prst="rect">
            <a:avLst/>
          </a:prstGeom>
          <a:noFill/>
          <a:ln/>
        </p:spPr>
        <p:txBody>
          <a:bodyPr wrap="square" lIns="0" tIns="0" rIns="0" bIns="0" rtlCol="0" anchor="ctr"/>
          <a:lstStyle/>
          <a:p>
            <a:pPr indent="0" marL="0">
              <a:buNone/>
            </a:pPr>
            <a:r>
              <a:rPr lang="en-US" sz="1300" b="1" dirty="0">
                <a:solidFill>
                  <a:srgbClr val="16202E"/>
                </a:solidFill>
                <a:latin typeface="IBM Plex Mono" pitchFamily="34" charset="0"/>
                <a:ea typeface="IBM Plex Mono" pitchFamily="34" charset="-122"/>
                <a:cs typeface="IBM Plex Mono" pitchFamily="34" charset="-120"/>
              </a:rPr>
              <a:t>|u|</a:t>
            </a:r>
            <a:endParaRPr lang="en-US" sz="1300" dirty="0"/>
          </a:p>
        </p:txBody>
      </p:sp>
      <p:sp>
        <p:nvSpPr>
          <p:cNvPr id="12" name="Text 9"/>
          <p:cNvSpPr txBox="1"/>
          <p:nvPr/>
        </p:nvSpPr>
        <p:spPr>
          <a:xfrm>
            <a:off x="1682496" y="3703320"/>
            <a:ext cx="5120640" cy="384048"/>
          </a:xfrm>
          <a:prstGeom prst="rect">
            <a:avLst/>
          </a:prstGeom>
          <a:noFill/>
          <a:ln/>
        </p:spPr>
        <p:txBody>
          <a:bodyPr wrap="square" lIns="0" tIns="0" rIns="0" bIns="0" rtlCol="0" anchor="ctr"/>
          <a:lstStyle/>
          <a:p>
            <a:pPr indent="0" marL="0">
              <a:buNone/>
            </a:pPr>
            <a:r>
              <a:rPr lang="en-US" sz="1200" dirty="0">
                <a:solidFill>
                  <a:srgbClr val="3A4453"/>
                </a:solidFill>
              </a:rPr>
              <a:t>absolute surprise: actual minus survey median, scaled by the series' typical surprise</a:t>
            </a:r>
            <a:endParaRPr lang="en-US" sz="1200" dirty="0"/>
          </a:p>
        </p:txBody>
      </p:sp>
      <p:sp>
        <p:nvSpPr>
          <p:cNvPr id="13" name="Text 10"/>
          <p:cNvSpPr txBox="1"/>
          <p:nvPr/>
        </p:nvSpPr>
        <p:spPr>
          <a:xfrm>
            <a:off x="813816" y="4160520"/>
            <a:ext cx="822960" cy="384048"/>
          </a:xfrm>
          <a:prstGeom prst="rect">
            <a:avLst/>
          </a:prstGeom>
          <a:noFill/>
          <a:ln/>
        </p:spPr>
        <p:txBody>
          <a:bodyPr wrap="square" lIns="0" tIns="0" rIns="0" bIns="0" rtlCol="0" anchor="ctr"/>
          <a:lstStyle/>
          <a:p>
            <a:pPr indent="0" marL="0">
              <a:buNone/>
            </a:pPr>
            <a:r>
              <a:rPr lang="en-US" sz="1300" b="1" dirty="0">
                <a:solidFill>
                  <a:srgbClr val="16202E"/>
                </a:solidFill>
                <a:latin typeface="IBM Plex Mono" pitchFamily="34" charset="0"/>
                <a:ea typeface="IBM Plex Mono" pitchFamily="34" charset="-122"/>
                <a:cs typeface="IBM Plex Mono" pitchFamily="34" charset="-120"/>
              </a:rPr>
              <a:t>log n</a:t>
            </a:r>
            <a:endParaRPr lang="en-US" sz="1300" dirty="0"/>
          </a:p>
        </p:txBody>
      </p:sp>
      <p:sp>
        <p:nvSpPr>
          <p:cNvPr id="14" name="Text 11"/>
          <p:cNvSpPr txBox="1"/>
          <p:nvPr/>
        </p:nvSpPr>
        <p:spPr>
          <a:xfrm>
            <a:off x="1682496" y="4160520"/>
            <a:ext cx="5120640" cy="384048"/>
          </a:xfrm>
          <a:prstGeom prst="rect">
            <a:avLst/>
          </a:prstGeom>
          <a:noFill/>
          <a:ln/>
        </p:spPr>
        <p:txBody>
          <a:bodyPr wrap="square" lIns="0" tIns="0" rIns="0" bIns="0" rtlCol="0" anchor="ctr"/>
          <a:lstStyle/>
          <a:p>
            <a:pPr indent="0" marL="0">
              <a:buNone/>
            </a:pPr>
            <a:r>
              <a:rPr lang="en-US" sz="1200" dirty="0">
                <a:solidFill>
                  <a:srgbClr val="3A4453"/>
                </a:solidFill>
              </a:rPr>
              <a:t>number of forecasters; standard errors clustered by release day</a:t>
            </a:r>
            <a:endParaRPr lang="en-US" sz="1200" dirty="0"/>
          </a:p>
        </p:txBody>
      </p:sp>
      <p:sp>
        <p:nvSpPr>
          <p:cNvPr id="15" name="Text 12"/>
          <p:cNvSpPr txBox="1"/>
          <p:nvPr/>
        </p:nvSpPr>
        <p:spPr>
          <a:xfrm>
            <a:off x="813816" y="4754880"/>
            <a:ext cx="5852160" cy="548640"/>
          </a:xfrm>
          <a:prstGeom prst="rect">
            <a:avLst/>
          </a:prstGeom>
          <a:noFill/>
          <a:ln/>
        </p:spPr>
        <p:txBody>
          <a:bodyPr wrap="square" lIns="0" tIns="0" rIns="0" bIns="0" rtlCol="0" anchor="t"/>
          <a:lstStyle/>
          <a:p>
            <a:pPr indent="0" marL="0">
              <a:buNone/>
            </a:pPr>
            <a:r>
              <a:rPr lang="en-US" sz="1150" dirty="0">
                <a:solidFill>
                  <a:srgbClr val="5B6472"/>
                </a:solidFill>
              </a:rPr>
              <a:t>425 release mornings (134 CPI, 135 PPI, 139 jobs, 17 retail sales), 1,255 morning-contract rows, 2015–2026</a:t>
            </a:r>
            <a:endParaRPr lang="en-US" sz="1150" dirty="0"/>
          </a:p>
        </p:txBody>
      </p:sp>
      <p:sp>
        <p:nvSpPr>
          <p:cNvPr id="16" name="card"/>
          <p:cNvSpPr/>
          <p:nvPr/>
        </p:nvSpPr>
        <p:spPr>
          <a:xfrm>
            <a:off x="7123176" y="2743200"/>
            <a:ext cx="4254703" cy="3246120"/>
          </a:xfrm>
          <a:prstGeom prst="roundRect">
            <a:avLst>
              <a:gd name="adj" fmla="val 1690"/>
            </a:avLst>
          </a:prstGeom>
          <a:solidFill>
            <a:srgbClr val="FBFAF7"/>
          </a:solidFill>
          <a:ln w="9525">
            <a:solidFill>
              <a:srgbClr val="E3E1DC"/>
            </a:solidFill>
            <a:prstDash val="solid"/>
          </a:ln>
        </p:spPr>
      </p:sp>
      <p:sp>
        <p:nvSpPr>
          <p:cNvPr id="17" name="Text 14"/>
          <p:cNvSpPr txBox="1"/>
          <p:nvPr/>
        </p:nvSpPr>
        <p:spPr>
          <a:xfrm>
            <a:off x="7397496" y="2926080"/>
            <a:ext cx="3706063" cy="256032"/>
          </a:xfrm>
          <a:prstGeom prst="rect">
            <a:avLst/>
          </a:prstGeom>
          <a:noFill/>
          <a:ln/>
        </p:spPr>
        <p:txBody>
          <a:bodyPr wrap="square" lIns="0" tIns="0" rIns="0" bIns="0" rtlCol="0" anchor="t"/>
          <a:lstStyle/>
          <a:p>
            <a:pPr indent="0" marL="0">
              <a:buNone/>
            </a:pPr>
            <a:r>
              <a:rPr lang="en-US" sz="1050" b="1" dirty="0">
                <a:solidFill>
                  <a:srgbClr val="2B5C9E"/>
                </a:solidFill>
              </a:rPr>
              <a:t>DECISION RULE, FIXED IN ADVANCE</a:t>
            </a:r>
            <a:endParaRPr lang="en-US" sz="1050" dirty="0"/>
          </a:p>
        </p:txBody>
      </p:sp>
      <p:sp>
        <p:nvSpPr>
          <p:cNvPr id="18" name="Text 15"/>
          <p:cNvSpPr txBox="1"/>
          <p:nvPr/>
        </p:nvSpPr>
        <p:spPr>
          <a:xfrm>
            <a:off x="7397496" y="3337560"/>
            <a:ext cx="1417320" cy="640080"/>
          </a:xfrm>
          <a:prstGeom prst="rect">
            <a:avLst/>
          </a:prstGeom>
          <a:noFill/>
          <a:ln/>
        </p:spPr>
        <p:txBody>
          <a:bodyPr wrap="square" lIns="0" tIns="0" rIns="0" bIns="0" rtlCol="0" anchor="t"/>
          <a:lstStyle/>
          <a:p>
            <a:pPr indent="0" marL="0">
              <a:buNone/>
            </a:pPr>
            <a:r>
              <a:rPr lang="en-US" sz="1300" b="1" dirty="0">
                <a:solidFill>
                  <a:srgbClr val="2B5C9E"/>
                </a:solidFill>
              </a:rPr>
              <a:t>Supported</a:t>
            </a:r>
            <a:endParaRPr lang="en-US" sz="1300" dirty="0"/>
          </a:p>
        </p:txBody>
      </p:sp>
      <p:sp>
        <p:nvSpPr>
          <p:cNvPr id="19" name="Text 16"/>
          <p:cNvSpPr txBox="1"/>
          <p:nvPr/>
        </p:nvSpPr>
        <p:spPr>
          <a:xfrm>
            <a:off x="8860536" y="3337560"/>
            <a:ext cx="2243023" cy="640080"/>
          </a:xfrm>
          <a:prstGeom prst="rect">
            <a:avLst/>
          </a:prstGeom>
          <a:noFill/>
          <a:ln/>
        </p:spPr>
        <p:txBody>
          <a:bodyPr wrap="square" lIns="0" tIns="0" rIns="0" bIns="0" rtlCol="0" anchor="t"/>
          <a:lstStyle/>
          <a:p>
            <a:pPr indent="0" marL="0">
              <a:buNone/>
            </a:pPr>
            <a:r>
              <a:rPr lang="en-US" sz="1200" dirty="0">
                <a:solidFill>
                  <a:srgbClr val="3A4453"/>
                </a:solidFill>
              </a:rPr>
              <a:t>β &lt; 0, p &lt; 0.05, and negative with and without period effects</a:t>
            </a:r>
            <a:endParaRPr lang="en-US" sz="1200" dirty="0"/>
          </a:p>
        </p:txBody>
      </p:sp>
      <p:sp>
        <p:nvSpPr>
          <p:cNvPr id="20" name="Text 17"/>
          <p:cNvSpPr txBox="1"/>
          <p:nvPr/>
        </p:nvSpPr>
        <p:spPr>
          <a:xfrm>
            <a:off x="7397496" y="4114800"/>
            <a:ext cx="1417320" cy="640080"/>
          </a:xfrm>
          <a:prstGeom prst="rect">
            <a:avLst/>
          </a:prstGeom>
          <a:noFill/>
          <a:ln/>
        </p:spPr>
        <p:txBody>
          <a:bodyPr wrap="square" lIns="0" tIns="0" rIns="0" bIns="0" rtlCol="0" anchor="t"/>
          <a:lstStyle/>
          <a:p>
            <a:pPr indent="0" marL="0">
              <a:buNone/>
            </a:pPr>
            <a:r>
              <a:rPr lang="en-US" sz="1300" b="1" dirty="0">
                <a:solidFill>
                  <a:srgbClr val="B85D1C"/>
                </a:solidFill>
              </a:rPr>
              <a:t>Rejected</a:t>
            </a:r>
            <a:endParaRPr lang="en-US" sz="1300" dirty="0"/>
          </a:p>
        </p:txBody>
      </p:sp>
      <p:sp>
        <p:nvSpPr>
          <p:cNvPr id="21" name="Text 18"/>
          <p:cNvSpPr txBox="1"/>
          <p:nvPr/>
        </p:nvSpPr>
        <p:spPr>
          <a:xfrm>
            <a:off x="8860536" y="4114800"/>
            <a:ext cx="2243023" cy="640080"/>
          </a:xfrm>
          <a:prstGeom prst="rect">
            <a:avLst/>
          </a:prstGeom>
          <a:noFill/>
          <a:ln/>
        </p:spPr>
        <p:txBody>
          <a:bodyPr wrap="square" lIns="0" tIns="0" rIns="0" bIns="0" rtlCol="0" anchor="t"/>
          <a:lstStyle/>
          <a:p>
            <a:pPr indent="0" marL="0">
              <a:buNone/>
            </a:pPr>
            <a:r>
              <a:rPr lang="en-US" sz="1200" dirty="0">
                <a:solidFill>
                  <a:srgbClr val="3A4453"/>
                </a:solidFill>
              </a:rPr>
              <a:t>95% interval excludes −0.05 (smallest effect of interest)</a:t>
            </a:r>
            <a:endParaRPr lang="en-US" sz="1200" dirty="0"/>
          </a:p>
        </p:txBody>
      </p:sp>
      <p:sp>
        <p:nvSpPr>
          <p:cNvPr id="22" name="Text 19"/>
          <p:cNvSpPr txBox="1"/>
          <p:nvPr/>
        </p:nvSpPr>
        <p:spPr>
          <a:xfrm>
            <a:off x="7397496" y="4892040"/>
            <a:ext cx="1417320" cy="640080"/>
          </a:xfrm>
          <a:prstGeom prst="rect">
            <a:avLst/>
          </a:prstGeom>
          <a:noFill/>
          <a:ln/>
        </p:spPr>
        <p:txBody>
          <a:bodyPr wrap="square" lIns="0" tIns="0" rIns="0" bIns="0" rtlCol="0" anchor="t"/>
          <a:lstStyle/>
          <a:p>
            <a:pPr indent="0" marL="0">
              <a:buNone/>
            </a:pPr>
            <a:r>
              <a:rPr lang="en-US" sz="1300" b="1" dirty="0">
                <a:solidFill>
                  <a:srgbClr val="5B6472"/>
                </a:solidFill>
              </a:rPr>
              <a:t>Inconclusive</a:t>
            </a:r>
            <a:endParaRPr lang="en-US" sz="1300" dirty="0"/>
          </a:p>
        </p:txBody>
      </p:sp>
      <p:sp>
        <p:nvSpPr>
          <p:cNvPr id="23" name="Text 20"/>
          <p:cNvSpPr txBox="1"/>
          <p:nvPr/>
        </p:nvSpPr>
        <p:spPr>
          <a:xfrm>
            <a:off x="8860536" y="4892040"/>
            <a:ext cx="2243023" cy="640080"/>
          </a:xfrm>
          <a:prstGeom prst="rect">
            <a:avLst/>
          </a:prstGeom>
          <a:noFill/>
          <a:ln/>
        </p:spPr>
        <p:txBody>
          <a:bodyPr wrap="square" lIns="0" tIns="0" rIns="0" bIns="0" rtlCol="0" anchor="t"/>
          <a:lstStyle/>
          <a:p>
            <a:pPr indent="0" marL="0">
              <a:buNone/>
            </a:pPr>
            <a:r>
              <a:rPr lang="en-US" sz="1200" dirty="0">
                <a:solidFill>
                  <a:srgbClr val="3A4453"/>
                </a:solidFill>
              </a:rPr>
              <a:t>neither</a:t>
            </a:r>
            <a:endParaRPr lang="en-US" sz="120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RESULTS · H3</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Disagreement does not make releases more trade-driven</a:t>
            </a:r>
            <a:endParaRPr lang="en-US" sz="2800" dirty="0"/>
          </a:p>
        </p:txBody>
      </p:sp>
      <p:sp>
        <p:nvSpPr>
          <p:cNvPr id="5" name="card"/>
          <p:cNvSpPr/>
          <p:nvPr/>
        </p:nvSpPr>
        <p:spPr>
          <a:xfrm>
            <a:off x="813816" y="1828800"/>
            <a:ext cx="7589520" cy="4251960"/>
          </a:xfrm>
          <a:prstGeom prst="roundRect">
            <a:avLst>
              <a:gd name="adj" fmla="val 1290"/>
            </a:avLst>
          </a:prstGeom>
          <a:solidFill>
            <a:srgbClr val="FBFAF7"/>
          </a:solidFill>
          <a:ln w="9525">
            <a:solidFill>
              <a:srgbClr val="E3E1DC"/>
            </a:solidFill>
            <a:prstDash val="solid"/>
          </a:ln>
        </p:spPr>
      </p:sp>
      <p:sp>
        <p:nvSpPr>
          <p:cNvPr id="6" name="soi-band"/>
          <p:cNvSpPr/>
          <p:nvPr/>
        </p:nvSpPr>
        <p:spPr>
          <a:xfrm>
            <a:off x="4014216" y="2057400"/>
            <a:ext cx="813816" cy="3383280"/>
          </a:xfrm>
          <a:prstGeom prst="rect">
            <a:avLst/>
          </a:prstGeom>
          <a:solidFill>
            <a:srgbClr val="F3E3D6"/>
          </a:solidFill>
          <a:ln/>
        </p:spPr>
      </p:sp>
      <p:sp>
        <p:nvSpPr>
          <p:cNvPr id="7" name="soi-line"/>
          <p:cNvSpPr/>
          <p:nvPr/>
        </p:nvSpPr>
        <p:spPr>
          <a:xfrm>
            <a:off x="4828032" y="2057400"/>
            <a:ext cx="0" cy="3383280"/>
          </a:xfrm>
          <a:prstGeom prst="line">
            <a:avLst/>
          </a:prstGeom>
          <a:noFill/>
          <a:ln w="12700">
            <a:solidFill>
              <a:srgbClr val="B85D1C"/>
            </a:solidFill>
            <a:prstDash val="dash"/>
          </a:ln>
        </p:spPr>
      </p:sp>
      <p:sp>
        <p:nvSpPr>
          <p:cNvPr id="8" name="zero-line"/>
          <p:cNvSpPr/>
          <p:nvPr/>
        </p:nvSpPr>
        <p:spPr>
          <a:xfrm>
            <a:off x="5641848" y="2057400"/>
            <a:ext cx="0" cy="3383280"/>
          </a:xfrm>
          <a:prstGeom prst="line">
            <a:avLst/>
          </a:prstGeom>
          <a:noFill/>
          <a:ln w="12700">
            <a:solidFill>
              <a:srgbClr val="5B6472"/>
            </a:solidFill>
            <a:prstDash val="solid"/>
          </a:ln>
        </p:spPr>
      </p:sp>
      <p:sp>
        <p:nvSpPr>
          <p:cNvPr id="9" name="Text 6"/>
          <p:cNvSpPr txBox="1"/>
          <p:nvPr/>
        </p:nvSpPr>
        <p:spPr>
          <a:xfrm>
            <a:off x="1042416" y="2103120"/>
            <a:ext cx="2834640" cy="329184"/>
          </a:xfrm>
          <a:prstGeom prst="rect">
            <a:avLst/>
          </a:prstGeom>
          <a:noFill/>
          <a:ln/>
        </p:spPr>
        <p:txBody>
          <a:bodyPr wrap="square" lIns="0" tIns="0" rIns="0" bIns="0" rtlCol="0" anchor="ctr"/>
          <a:lstStyle/>
          <a:p>
            <a:pPr indent="0" marL="0">
              <a:buNone/>
            </a:pPr>
            <a:r>
              <a:rPr lang="en-US" sz="1100" b="1" dirty="0">
                <a:solidFill>
                  <a:srgbClr val="16202E"/>
                </a:solidFill>
              </a:rPr>
              <a:t>Primary</a:t>
            </a:r>
            <a:endParaRPr lang="en-US" sz="1100" dirty="0"/>
          </a:p>
        </p:txBody>
      </p:sp>
      <p:sp>
        <p:nvSpPr>
          <p:cNvPr id="10" name="ci"/>
          <p:cNvSpPr/>
          <p:nvPr/>
        </p:nvSpPr>
        <p:spPr>
          <a:xfrm>
            <a:off x="5495361" y="2267712"/>
            <a:ext cx="1367211" cy="0"/>
          </a:xfrm>
          <a:prstGeom prst="line">
            <a:avLst/>
          </a:prstGeom>
          <a:noFill/>
          <a:ln w="31750">
            <a:solidFill>
              <a:srgbClr val="2B5C9E"/>
            </a:solidFill>
            <a:prstDash val="solid"/>
          </a:ln>
        </p:spPr>
      </p:sp>
      <p:sp>
        <p:nvSpPr>
          <p:cNvPr id="11" name="estimate"/>
          <p:cNvSpPr/>
          <p:nvPr/>
        </p:nvSpPr>
        <p:spPr>
          <a:xfrm>
            <a:off x="6105815" y="2194560"/>
            <a:ext cx="146304" cy="146304"/>
          </a:xfrm>
          <a:prstGeom prst="ellipse">
            <a:avLst/>
          </a:prstGeom>
          <a:solidFill>
            <a:srgbClr val="2B5C9E"/>
          </a:solidFill>
          <a:ln/>
        </p:spPr>
      </p:sp>
      <p:sp>
        <p:nvSpPr>
          <p:cNvPr id="12" name="Text 9"/>
          <p:cNvSpPr txBox="1"/>
          <p:nvPr/>
        </p:nvSpPr>
        <p:spPr>
          <a:xfrm>
            <a:off x="1042416" y="2432304"/>
            <a:ext cx="2834640" cy="329184"/>
          </a:xfrm>
          <a:prstGeom prst="rect">
            <a:avLst/>
          </a:prstGeom>
          <a:noFill/>
          <a:ln/>
        </p:spPr>
        <p:txBody>
          <a:bodyPr wrap="square" lIns="0" tIns="0" rIns="0" bIns="0" rtlCol="0" anchor="ctr"/>
          <a:lstStyle/>
          <a:p>
            <a:pPr indent="0" marL="0">
              <a:buNone/>
            </a:pPr>
            <a:r>
              <a:rPr lang="en-US" sz="1100" dirty="0">
                <a:solidFill>
                  <a:srgbClr val="3A4453"/>
                </a:solidFill>
              </a:rPr>
              <a:t>Placebo: pseudo-clock S</a:t>
            </a:r>
            <a:endParaRPr lang="en-US" sz="1100" dirty="0"/>
          </a:p>
        </p:txBody>
      </p:sp>
      <p:sp>
        <p:nvSpPr>
          <p:cNvPr id="13" name="ci"/>
          <p:cNvSpPr/>
          <p:nvPr/>
        </p:nvSpPr>
        <p:spPr>
          <a:xfrm>
            <a:off x="5153558" y="2596896"/>
            <a:ext cx="1155619" cy="0"/>
          </a:xfrm>
          <a:prstGeom prst="line">
            <a:avLst/>
          </a:prstGeom>
          <a:noFill/>
          <a:ln w="19050">
            <a:solidFill>
              <a:srgbClr val="5B6472"/>
            </a:solidFill>
            <a:prstDash val="solid"/>
          </a:ln>
        </p:spPr>
      </p:sp>
      <p:sp>
        <p:nvSpPr>
          <p:cNvPr id="14" name="estimate"/>
          <p:cNvSpPr/>
          <p:nvPr/>
        </p:nvSpPr>
        <p:spPr>
          <a:xfrm>
            <a:off x="5684642" y="2542032"/>
            <a:ext cx="109728" cy="109728"/>
          </a:xfrm>
          <a:prstGeom prst="ellipse">
            <a:avLst/>
          </a:prstGeom>
          <a:solidFill>
            <a:srgbClr val="5B6472"/>
          </a:solidFill>
          <a:ln/>
        </p:spPr>
      </p:sp>
      <p:sp>
        <p:nvSpPr>
          <p:cNvPr id="15" name="Text 12"/>
          <p:cNvSpPr txBox="1"/>
          <p:nvPr/>
        </p:nvSpPr>
        <p:spPr>
          <a:xfrm>
            <a:off x="1042416" y="2761488"/>
            <a:ext cx="2834640" cy="329184"/>
          </a:xfrm>
          <a:prstGeom prst="rect">
            <a:avLst/>
          </a:prstGeom>
          <a:noFill/>
          <a:ln/>
        </p:spPr>
        <p:txBody>
          <a:bodyPr wrap="square" lIns="0" tIns="0" rIns="0" bIns="0" rtlCol="0" anchor="ctr"/>
          <a:lstStyle/>
          <a:p>
            <a:pPr indent="0" marL="0">
              <a:buNone/>
            </a:pPr>
            <a:r>
              <a:rPr lang="en-US" sz="1100" dirty="0">
                <a:solidFill>
                  <a:srgbClr val="3A4453"/>
                </a:solidFill>
              </a:rPr>
              <a:t>No period effects</a:t>
            </a:r>
            <a:endParaRPr lang="en-US" sz="1100" dirty="0"/>
          </a:p>
        </p:txBody>
      </p:sp>
      <p:sp>
        <p:nvSpPr>
          <p:cNvPr id="16" name="ci"/>
          <p:cNvSpPr/>
          <p:nvPr/>
        </p:nvSpPr>
        <p:spPr>
          <a:xfrm>
            <a:off x="5479085" y="2926080"/>
            <a:ext cx="1367211" cy="0"/>
          </a:xfrm>
          <a:prstGeom prst="line">
            <a:avLst/>
          </a:prstGeom>
          <a:noFill/>
          <a:ln w="19050">
            <a:solidFill>
              <a:srgbClr val="5B6472"/>
            </a:solidFill>
            <a:prstDash val="solid"/>
          </a:ln>
        </p:spPr>
      </p:sp>
      <p:sp>
        <p:nvSpPr>
          <p:cNvPr id="17" name="estimate"/>
          <p:cNvSpPr/>
          <p:nvPr/>
        </p:nvSpPr>
        <p:spPr>
          <a:xfrm>
            <a:off x="6107826" y="2871216"/>
            <a:ext cx="109728" cy="109728"/>
          </a:xfrm>
          <a:prstGeom prst="ellipse">
            <a:avLst/>
          </a:prstGeom>
          <a:solidFill>
            <a:srgbClr val="5B6472"/>
          </a:solidFill>
          <a:ln/>
        </p:spPr>
      </p:sp>
      <p:sp>
        <p:nvSpPr>
          <p:cNvPr id="18" name="Text 15"/>
          <p:cNvSpPr txBox="1"/>
          <p:nvPr/>
        </p:nvSpPr>
        <p:spPr>
          <a:xfrm>
            <a:off x="1042416" y="3090672"/>
            <a:ext cx="2834640" cy="329184"/>
          </a:xfrm>
          <a:prstGeom prst="rect">
            <a:avLst/>
          </a:prstGeom>
          <a:noFill/>
          <a:ln/>
        </p:spPr>
        <p:txBody>
          <a:bodyPr wrap="square" lIns="0" tIns="0" rIns="0" bIns="0" rtlCol="0" anchor="ctr"/>
          <a:lstStyle/>
          <a:p>
            <a:pPr indent="0" marL="0">
              <a:buNone/>
            </a:pPr>
            <a:r>
              <a:rPr lang="en-US" sz="1100" dirty="0">
                <a:solidFill>
                  <a:srgbClr val="3A4453"/>
                </a:solidFill>
              </a:rPr>
              <a:t>Year effects</a:t>
            </a:r>
            <a:endParaRPr lang="en-US" sz="1100" dirty="0"/>
          </a:p>
        </p:txBody>
      </p:sp>
      <p:sp>
        <p:nvSpPr>
          <p:cNvPr id="19" name="ci"/>
          <p:cNvSpPr/>
          <p:nvPr/>
        </p:nvSpPr>
        <p:spPr>
          <a:xfrm>
            <a:off x="5332598" y="3255264"/>
            <a:ext cx="1383487" cy="0"/>
          </a:xfrm>
          <a:prstGeom prst="line">
            <a:avLst/>
          </a:prstGeom>
          <a:noFill/>
          <a:ln w="19050">
            <a:solidFill>
              <a:srgbClr val="5B6472"/>
            </a:solidFill>
            <a:prstDash val="solid"/>
          </a:ln>
        </p:spPr>
      </p:sp>
      <p:sp>
        <p:nvSpPr>
          <p:cNvPr id="20" name="estimate"/>
          <p:cNvSpPr/>
          <p:nvPr/>
        </p:nvSpPr>
        <p:spPr>
          <a:xfrm>
            <a:off x="5977616" y="3200400"/>
            <a:ext cx="109728" cy="109728"/>
          </a:xfrm>
          <a:prstGeom prst="ellipse">
            <a:avLst/>
          </a:prstGeom>
          <a:solidFill>
            <a:srgbClr val="5B6472"/>
          </a:solidFill>
          <a:ln/>
        </p:spPr>
      </p:sp>
      <p:sp>
        <p:nvSpPr>
          <p:cNvPr id="21" name="Text 18"/>
          <p:cNvSpPr txBox="1"/>
          <p:nvPr/>
        </p:nvSpPr>
        <p:spPr>
          <a:xfrm>
            <a:off x="1042416" y="3419856"/>
            <a:ext cx="2834640" cy="329184"/>
          </a:xfrm>
          <a:prstGeom prst="rect">
            <a:avLst/>
          </a:prstGeom>
          <a:noFill/>
          <a:ln/>
        </p:spPr>
        <p:txBody>
          <a:bodyPr wrap="square" lIns="0" tIns="0" rIns="0" bIns="0" rtlCol="0" anchor="ctr"/>
          <a:lstStyle/>
          <a:p>
            <a:pPr indent="0" marL="0">
              <a:buNone/>
            </a:pPr>
            <a:r>
              <a:rPr lang="en-US" sz="1100" dirty="0">
                <a:solidFill>
                  <a:srgbClr val="3A4453"/>
                </a:solidFill>
              </a:rPr>
              <a:t>Robust standardization (post-freeze)</a:t>
            </a:r>
            <a:endParaRPr lang="en-US" sz="1100" dirty="0"/>
          </a:p>
        </p:txBody>
      </p:sp>
      <p:sp>
        <p:nvSpPr>
          <p:cNvPr id="22" name="ci"/>
          <p:cNvSpPr/>
          <p:nvPr/>
        </p:nvSpPr>
        <p:spPr>
          <a:xfrm>
            <a:off x="5527914" y="3584448"/>
            <a:ext cx="699882" cy="0"/>
          </a:xfrm>
          <a:prstGeom prst="line">
            <a:avLst/>
          </a:prstGeom>
          <a:noFill/>
          <a:ln w="19050">
            <a:solidFill>
              <a:srgbClr val="5B6472"/>
            </a:solidFill>
            <a:prstDash val="solid"/>
          </a:ln>
        </p:spPr>
      </p:sp>
      <p:sp>
        <p:nvSpPr>
          <p:cNvPr id="23" name="estimate"/>
          <p:cNvSpPr/>
          <p:nvPr/>
        </p:nvSpPr>
        <p:spPr>
          <a:xfrm>
            <a:off x="5814852" y="3529584"/>
            <a:ext cx="109728" cy="109728"/>
          </a:xfrm>
          <a:prstGeom prst="ellipse">
            <a:avLst/>
          </a:prstGeom>
          <a:solidFill>
            <a:srgbClr val="5B6472"/>
          </a:solidFill>
          <a:ln/>
        </p:spPr>
      </p:sp>
      <p:sp>
        <p:nvSpPr>
          <p:cNvPr id="24" name="Text 21"/>
          <p:cNvSpPr txBox="1"/>
          <p:nvPr/>
        </p:nvSpPr>
        <p:spPr>
          <a:xfrm>
            <a:off x="1042416" y="3749040"/>
            <a:ext cx="2834640" cy="329184"/>
          </a:xfrm>
          <a:prstGeom prst="rect">
            <a:avLst/>
          </a:prstGeom>
          <a:noFill/>
          <a:ln/>
        </p:spPr>
        <p:txBody>
          <a:bodyPr wrap="square" lIns="0" tIns="0" rIns="0" bIns="0" rtlCol="0" anchor="ctr"/>
          <a:lstStyle/>
          <a:p>
            <a:pPr indent="0" marL="0">
              <a:buNone/>
            </a:pPr>
            <a:r>
              <a:rPr lang="en-US" sz="1100" dirty="0">
                <a:solidFill>
                  <a:srgbClr val="3A4453"/>
                </a:solidFill>
              </a:rPr>
              <a:t>Log range in place of z-score</a:t>
            </a:r>
            <a:endParaRPr lang="en-US" sz="1100" dirty="0"/>
          </a:p>
        </p:txBody>
      </p:sp>
      <p:sp>
        <p:nvSpPr>
          <p:cNvPr id="25" name="ci"/>
          <p:cNvSpPr/>
          <p:nvPr/>
        </p:nvSpPr>
        <p:spPr>
          <a:xfrm>
            <a:off x="4730374" y="3913632"/>
            <a:ext cx="2050816" cy="0"/>
          </a:xfrm>
          <a:prstGeom prst="line">
            <a:avLst/>
          </a:prstGeom>
          <a:noFill/>
          <a:ln w="19050">
            <a:solidFill>
              <a:srgbClr val="5B6472"/>
            </a:solidFill>
            <a:prstDash val="solid"/>
          </a:ln>
        </p:spPr>
      </p:sp>
      <p:sp>
        <p:nvSpPr>
          <p:cNvPr id="26" name="estimate"/>
          <p:cNvSpPr/>
          <p:nvPr/>
        </p:nvSpPr>
        <p:spPr>
          <a:xfrm>
            <a:off x="5700918" y="3858768"/>
            <a:ext cx="109728" cy="109728"/>
          </a:xfrm>
          <a:prstGeom prst="ellipse">
            <a:avLst/>
          </a:prstGeom>
          <a:solidFill>
            <a:srgbClr val="5B6472"/>
          </a:solidFill>
          <a:ln/>
        </p:spPr>
      </p:sp>
      <p:sp>
        <p:nvSpPr>
          <p:cNvPr id="27" name="Text 24"/>
          <p:cNvSpPr txBox="1"/>
          <p:nvPr/>
        </p:nvSpPr>
        <p:spPr>
          <a:xfrm>
            <a:off x="1042416" y="4078224"/>
            <a:ext cx="2834640" cy="329184"/>
          </a:xfrm>
          <a:prstGeom prst="rect">
            <a:avLst/>
          </a:prstGeom>
          <a:noFill/>
          <a:ln/>
        </p:spPr>
        <p:txBody>
          <a:bodyPr wrap="square" lIns="0" tIns="0" rIns="0" bIns="0" rtlCol="0" anchor="ctr"/>
          <a:lstStyle/>
          <a:p>
            <a:pPr indent="0" marL="0">
              <a:buNone/>
            </a:pPr>
            <a:r>
              <a:rPr lang="en-US" sz="1100" dirty="0">
                <a:solidFill>
                  <a:srgbClr val="3A4453"/>
                </a:solidFill>
              </a:rPr>
              <a:t>Drop March–July 2020</a:t>
            </a:r>
            <a:endParaRPr lang="en-US" sz="1100" dirty="0"/>
          </a:p>
        </p:txBody>
      </p:sp>
      <p:sp>
        <p:nvSpPr>
          <p:cNvPr id="28" name="ci"/>
          <p:cNvSpPr/>
          <p:nvPr/>
        </p:nvSpPr>
        <p:spPr>
          <a:xfrm>
            <a:off x="5560466" y="4242816"/>
            <a:ext cx="1904329" cy="0"/>
          </a:xfrm>
          <a:prstGeom prst="line">
            <a:avLst/>
          </a:prstGeom>
          <a:noFill/>
          <a:ln w="19050">
            <a:solidFill>
              <a:srgbClr val="5B6472"/>
            </a:solidFill>
            <a:prstDash val="solid"/>
          </a:ln>
        </p:spPr>
      </p:sp>
      <p:sp>
        <p:nvSpPr>
          <p:cNvPr id="29" name="estimate"/>
          <p:cNvSpPr/>
          <p:nvPr/>
        </p:nvSpPr>
        <p:spPr>
          <a:xfrm>
            <a:off x="6449629" y="4187952"/>
            <a:ext cx="109728" cy="109728"/>
          </a:xfrm>
          <a:prstGeom prst="ellipse">
            <a:avLst/>
          </a:prstGeom>
          <a:solidFill>
            <a:srgbClr val="5B6472"/>
          </a:solidFill>
          <a:ln/>
        </p:spPr>
      </p:sp>
      <p:sp>
        <p:nvSpPr>
          <p:cNvPr id="30" name="Text 27"/>
          <p:cNvSpPr txBox="1"/>
          <p:nvPr/>
        </p:nvSpPr>
        <p:spPr>
          <a:xfrm>
            <a:off x="1042416" y="4407408"/>
            <a:ext cx="2834640" cy="329184"/>
          </a:xfrm>
          <a:prstGeom prst="rect">
            <a:avLst/>
          </a:prstGeom>
          <a:noFill/>
          <a:ln/>
        </p:spPr>
        <p:txBody>
          <a:bodyPr wrap="square" lIns="0" tIns="0" rIns="0" bIns="0" rtlCol="0" anchor="ctr"/>
          <a:lstStyle/>
          <a:p>
            <a:pPr indent="0" marL="0">
              <a:buNone/>
            </a:pPr>
            <a:r>
              <a:rPr lang="en-US" sz="1100" dirty="0">
                <a:solidFill>
                  <a:srgbClr val="3A4453"/>
                </a:solidFill>
              </a:rPr>
              <a:t>ES only</a:t>
            </a:r>
            <a:endParaRPr lang="en-US" sz="1100" dirty="0"/>
          </a:p>
        </p:txBody>
      </p:sp>
      <p:sp>
        <p:nvSpPr>
          <p:cNvPr id="31" name="ci"/>
          <p:cNvSpPr/>
          <p:nvPr/>
        </p:nvSpPr>
        <p:spPr>
          <a:xfrm>
            <a:off x="4648992" y="4572000"/>
            <a:ext cx="2750698" cy="0"/>
          </a:xfrm>
          <a:prstGeom prst="line">
            <a:avLst/>
          </a:prstGeom>
          <a:noFill/>
          <a:ln w="19050">
            <a:solidFill>
              <a:srgbClr val="5B6472"/>
            </a:solidFill>
            <a:prstDash val="solid"/>
          </a:ln>
        </p:spPr>
      </p:sp>
      <p:sp>
        <p:nvSpPr>
          <p:cNvPr id="32" name="estimate"/>
          <p:cNvSpPr/>
          <p:nvPr/>
        </p:nvSpPr>
        <p:spPr>
          <a:xfrm>
            <a:off x="5977616" y="4517136"/>
            <a:ext cx="109728" cy="109728"/>
          </a:xfrm>
          <a:prstGeom prst="ellipse">
            <a:avLst/>
          </a:prstGeom>
          <a:solidFill>
            <a:srgbClr val="5B6472"/>
          </a:solidFill>
          <a:ln/>
        </p:spPr>
      </p:sp>
      <p:sp>
        <p:nvSpPr>
          <p:cNvPr id="33" name="Text 30"/>
          <p:cNvSpPr txBox="1"/>
          <p:nvPr/>
        </p:nvSpPr>
        <p:spPr>
          <a:xfrm>
            <a:off x="1042416" y="4736592"/>
            <a:ext cx="2834640" cy="329184"/>
          </a:xfrm>
          <a:prstGeom prst="rect">
            <a:avLst/>
          </a:prstGeom>
          <a:noFill/>
          <a:ln/>
        </p:spPr>
        <p:txBody>
          <a:bodyPr wrap="square" lIns="0" tIns="0" rIns="0" bIns="0" rtlCol="0" anchor="ctr"/>
          <a:lstStyle/>
          <a:p>
            <a:pPr indent="0" marL="0">
              <a:buNone/>
            </a:pPr>
            <a:r>
              <a:rPr lang="en-US" sz="1100" dirty="0">
                <a:solidFill>
                  <a:srgbClr val="3A4453"/>
                </a:solidFill>
              </a:rPr>
              <a:t>NQ only</a:t>
            </a:r>
            <a:endParaRPr lang="en-US" sz="1100" dirty="0"/>
          </a:p>
        </p:txBody>
      </p:sp>
      <p:sp>
        <p:nvSpPr>
          <p:cNvPr id="34" name="ci"/>
          <p:cNvSpPr/>
          <p:nvPr/>
        </p:nvSpPr>
        <p:spPr>
          <a:xfrm>
            <a:off x="5983651" y="4901184"/>
            <a:ext cx="1513698" cy="0"/>
          </a:xfrm>
          <a:prstGeom prst="line">
            <a:avLst/>
          </a:prstGeom>
          <a:noFill/>
          <a:ln w="19050">
            <a:solidFill>
              <a:srgbClr val="D98A4A"/>
            </a:solidFill>
            <a:prstDash val="solid"/>
          </a:ln>
        </p:spPr>
      </p:sp>
      <p:sp>
        <p:nvSpPr>
          <p:cNvPr id="35" name="estimate"/>
          <p:cNvSpPr/>
          <p:nvPr/>
        </p:nvSpPr>
        <p:spPr>
          <a:xfrm>
            <a:off x="6693774" y="4846320"/>
            <a:ext cx="109728" cy="109728"/>
          </a:xfrm>
          <a:prstGeom prst="ellipse">
            <a:avLst/>
          </a:prstGeom>
          <a:solidFill>
            <a:srgbClr val="D98A4A"/>
          </a:solidFill>
          <a:ln/>
        </p:spPr>
      </p:sp>
      <p:sp>
        <p:nvSpPr>
          <p:cNvPr id="36" name="Text 33"/>
          <p:cNvSpPr txBox="1"/>
          <p:nvPr/>
        </p:nvSpPr>
        <p:spPr>
          <a:xfrm>
            <a:off x="1042416" y="5065776"/>
            <a:ext cx="2834640" cy="329184"/>
          </a:xfrm>
          <a:prstGeom prst="rect">
            <a:avLst/>
          </a:prstGeom>
          <a:noFill/>
          <a:ln/>
        </p:spPr>
        <p:txBody>
          <a:bodyPr wrap="square" lIns="0" tIns="0" rIns="0" bIns="0" rtlCol="0" anchor="ctr"/>
          <a:lstStyle/>
          <a:p>
            <a:pPr indent="0" marL="0">
              <a:buNone/>
            </a:pPr>
            <a:r>
              <a:rPr lang="en-US" sz="1100" dirty="0">
                <a:solidFill>
                  <a:srgbClr val="3A4453"/>
                </a:solidFill>
              </a:rPr>
              <a:t>ZN only</a:t>
            </a:r>
            <a:endParaRPr lang="en-US" sz="1100" dirty="0"/>
          </a:p>
        </p:txBody>
      </p:sp>
      <p:sp>
        <p:nvSpPr>
          <p:cNvPr id="37" name="ci"/>
          <p:cNvSpPr/>
          <p:nvPr/>
        </p:nvSpPr>
        <p:spPr>
          <a:xfrm>
            <a:off x="5055900" y="5230368"/>
            <a:ext cx="1416040" cy="0"/>
          </a:xfrm>
          <a:prstGeom prst="line">
            <a:avLst/>
          </a:prstGeom>
          <a:noFill/>
          <a:ln w="19050">
            <a:solidFill>
              <a:srgbClr val="5B6472"/>
            </a:solidFill>
            <a:prstDash val="solid"/>
          </a:ln>
        </p:spPr>
      </p:sp>
      <p:sp>
        <p:nvSpPr>
          <p:cNvPr id="38" name="estimate"/>
          <p:cNvSpPr/>
          <p:nvPr/>
        </p:nvSpPr>
        <p:spPr>
          <a:xfrm>
            <a:off x="5700918" y="5175504"/>
            <a:ext cx="109728" cy="109728"/>
          </a:xfrm>
          <a:prstGeom prst="ellipse">
            <a:avLst/>
          </a:prstGeom>
          <a:solidFill>
            <a:srgbClr val="5B6472"/>
          </a:solidFill>
          <a:ln/>
        </p:spPr>
      </p:sp>
      <p:sp>
        <p:nvSpPr>
          <p:cNvPr id="39" name="Text 36"/>
          <p:cNvSpPr txBox="1"/>
          <p:nvPr/>
        </p:nvSpPr>
        <p:spPr>
          <a:xfrm>
            <a:off x="3694176" y="5468112"/>
            <a:ext cx="640080" cy="228600"/>
          </a:xfrm>
          <a:prstGeom prst="rect">
            <a:avLst/>
          </a:prstGeom>
          <a:noFill/>
          <a:ln/>
        </p:spPr>
        <p:txBody>
          <a:bodyPr wrap="square" lIns="0" tIns="0" rIns="0" bIns="0" rtlCol="0" anchor="t"/>
          <a:lstStyle/>
          <a:p>
            <a:pPr algn="ctr" indent="0" marL="0">
              <a:buNone/>
            </a:pPr>
            <a:r>
              <a:rPr lang="en-US" sz="950" dirty="0">
                <a:solidFill>
                  <a:srgbClr val="5B6472"/>
                </a:solidFill>
              </a:rPr>
              <a:t>−0.10</a:t>
            </a:r>
            <a:endParaRPr lang="en-US" sz="950" dirty="0"/>
          </a:p>
        </p:txBody>
      </p:sp>
      <p:sp>
        <p:nvSpPr>
          <p:cNvPr id="40" name="Text 37"/>
          <p:cNvSpPr txBox="1"/>
          <p:nvPr/>
        </p:nvSpPr>
        <p:spPr>
          <a:xfrm>
            <a:off x="4507992" y="5468112"/>
            <a:ext cx="640080" cy="228600"/>
          </a:xfrm>
          <a:prstGeom prst="rect">
            <a:avLst/>
          </a:prstGeom>
          <a:noFill/>
          <a:ln/>
        </p:spPr>
        <p:txBody>
          <a:bodyPr wrap="square" lIns="0" tIns="0" rIns="0" bIns="0" rtlCol="0" anchor="t"/>
          <a:lstStyle/>
          <a:p>
            <a:pPr algn="ctr" indent="0" marL="0">
              <a:buNone/>
            </a:pPr>
            <a:r>
              <a:rPr lang="en-US" sz="950" dirty="0">
                <a:solidFill>
                  <a:srgbClr val="5B6472"/>
                </a:solidFill>
              </a:rPr>
              <a:t>−0.05</a:t>
            </a:r>
            <a:endParaRPr lang="en-US" sz="950" dirty="0"/>
          </a:p>
        </p:txBody>
      </p:sp>
      <p:sp>
        <p:nvSpPr>
          <p:cNvPr id="41" name="Text 38"/>
          <p:cNvSpPr txBox="1"/>
          <p:nvPr/>
        </p:nvSpPr>
        <p:spPr>
          <a:xfrm>
            <a:off x="5321808" y="5468112"/>
            <a:ext cx="640080" cy="228600"/>
          </a:xfrm>
          <a:prstGeom prst="rect">
            <a:avLst/>
          </a:prstGeom>
          <a:noFill/>
          <a:ln/>
        </p:spPr>
        <p:txBody>
          <a:bodyPr wrap="square" lIns="0" tIns="0" rIns="0" bIns="0" rtlCol="0" anchor="t"/>
          <a:lstStyle/>
          <a:p>
            <a:pPr algn="ctr" indent="0" marL="0">
              <a:buNone/>
            </a:pPr>
            <a:r>
              <a:rPr lang="en-US" sz="950" dirty="0">
                <a:solidFill>
                  <a:srgbClr val="5B6472"/>
                </a:solidFill>
              </a:rPr>
              <a:t>0.00</a:t>
            </a:r>
            <a:endParaRPr lang="en-US" sz="950" dirty="0"/>
          </a:p>
        </p:txBody>
      </p:sp>
      <p:sp>
        <p:nvSpPr>
          <p:cNvPr id="42" name="Text 39"/>
          <p:cNvSpPr txBox="1"/>
          <p:nvPr/>
        </p:nvSpPr>
        <p:spPr>
          <a:xfrm>
            <a:off x="6135624" y="5468112"/>
            <a:ext cx="640080" cy="228600"/>
          </a:xfrm>
          <a:prstGeom prst="rect">
            <a:avLst/>
          </a:prstGeom>
          <a:noFill/>
          <a:ln/>
        </p:spPr>
        <p:txBody>
          <a:bodyPr wrap="square" lIns="0" tIns="0" rIns="0" bIns="0" rtlCol="0" anchor="t"/>
          <a:lstStyle/>
          <a:p>
            <a:pPr algn="ctr" indent="0" marL="0">
              <a:buNone/>
            </a:pPr>
            <a:r>
              <a:rPr lang="en-US" sz="950" dirty="0">
                <a:solidFill>
                  <a:srgbClr val="5B6472"/>
                </a:solidFill>
              </a:rPr>
              <a:t>+0.05</a:t>
            </a:r>
            <a:endParaRPr lang="en-US" sz="950" dirty="0"/>
          </a:p>
        </p:txBody>
      </p:sp>
      <p:sp>
        <p:nvSpPr>
          <p:cNvPr id="43" name="Text 40"/>
          <p:cNvSpPr txBox="1"/>
          <p:nvPr/>
        </p:nvSpPr>
        <p:spPr>
          <a:xfrm>
            <a:off x="6949440" y="5468112"/>
            <a:ext cx="640080" cy="228600"/>
          </a:xfrm>
          <a:prstGeom prst="rect">
            <a:avLst/>
          </a:prstGeom>
          <a:noFill/>
          <a:ln/>
        </p:spPr>
        <p:txBody>
          <a:bodyPr wrap="square" lIns="0" tIns="0" rIns="0" bIns="0" rtlCol="0" anchor="t"/>
          <a:lstStyle/>
          <a:p>
            <a:pPr algn="ctr" indent="0" marL="0">
              <a:buNone/>
            </a:pPr>
            <a:r>
              <a:rPr lang="en-US" sz="950" dirty="0">
                <a:solidFill>
                  <a:srgbClr val="5B6472"/>
                </a:solidFill>
              </a:rPr>
              <a:t>+0.10</a:t>
            </a:r>
            <a:endParaRPr lang="en-US" sz="950" dirty="0"/>
          </a:p>
        </p:txBody>
      </p:sp>
      <p:sp>
        <p:nvSpPr>
          <p:cNvPr id="44" name="Text 41"/>
          <p:cNvSpPr txBox="1"/>
          <p:nvPr/>
        </p:nvSpPr>
        <p:spPr>
          <a:xfrm>
            <a:off x="7763256" y="5468112"/>
            <a:ext cx="640080" cy="228600"/>
          </a:xfrm>
          <a:prstGeom prst="rect">
            <a:avLst/>
          </a:prstGeom>
          <a:noFill/>
          <a:ln/>
        </p:spPr>
        <p:txBody>
          <a:bodyPr wrap="square" lIns="0" tIns="0" rIns="0" bIns="0" rtlCol="0" anchor="t"/>
          <a:lstStyle/>
          <a:p>
            <a:pPr algn="ctr" indent="0" marL="0">
              <a:buNone/>
            </a:pPr>
            <a:r>
              <a:rPr lang="en-US" sz="950" dirty="0">
                <a:solidFill>
                  <a:srgbClr val="5B6472"/>
                </a:solidFill>
              </a:rPr>
              <a:t>+0.15</a:t>
            </a:r>
            <a:endParaRPr lang="en-US" sz="950" dirty="0"/>
          </a:p>
        </p:txBody>
      </p:sp>
      <p:sp>
        <p:nvSpPr>
          <p:cNvPr id="45" name="Text 42"/>
          <p:cNvSpPr txBox="1"/>
          <p:nvPr/>
        </p:nvSpPr>
        <p:spPr>
          <a:xfrm>
            <a:off x="1042416" y="5760720"/>
            <a:ext cx="7132320" cy="411480"/>
          </a:xfrm>
          <a:prstGeom prst="rect">
            <a:avLst/>
          </a:prstGeom>
          <a:noFill/>
          <a:ln/>
        </p:spPr>
        <p:txBody>
          <a:bodyPr wrap="square" lIns="0" tIns="0" rIns="0" bIns="0" rtlCol="0" anchor="t"/>
          <a:lstStyle/>
          <a:p>
            <a:pPr indent="0" marL="0">
              <a:buNone/>
            </a:pPr>
            <a:r>
              <a:rPr lang="en-US" sz="1000" dirty="0">
                <a:solidFill>
                  <a:srgbClr val="5B6472"/>
                </a:solidFill>
              </a:rPr>
              <a:t>β on dispersion, change in S per sd, with 95% interval. Shaded: effects of −0.05 or larger.</a:t>
            </a:r>
            <a:endParaRPr lang="en-US" sz="1000" dirty="0"/>
          </a:p>
        </p:txBody>
      </p:sp>
      <p:sp>
        <p:nvSpPr>
          <p:cNvPr id="46" name="Text 43"/>
          <p:cNvSpPr txBox="1"/>
          <p:nvPr/>
        </p:nvSpPr>
        <p:spPr>
          <a:xfrm>
            <a:off x="8723376" y="1828800"/>
            <a:ext cx="2654503" cy="256032"/>
          </a:xfrm>
          <a:prstGeom prst="rect">
            <a:avLst/>
          </a:prstGeom>
          <a:noFill/>
          <a:ln/>
        </p:spPr>
        <p:txBody>
          <a:bodyPr wrap="square" lIns="0" tIns="0" rIns="0" bIns="0" rtlCol="0" anchor="t"/>
          <a:lstStyle/>
          <a:p>
            <a:pPr indent="0" marL="0">
              <a:buNone/>
            </a:pPr>
            <a:r>
              <a:rPr lang="en-US" sz="1050" b="1" dirty="0">
                <a:solidFill>
                  <a:srgbClr val="B85D1C"/>
                </a:solidFill>
              </a:rPr>
              <a:t>H3 · REJECTED</a:t>
            </a:r>
            <a:endParaRPr lang="en-US" sz="1050" dirty="0"/>
          </a:p>
        </p:txBody>
      </p:sp>
      <p:sp>
        <p:nvSpPr>
          <p:cNvPr id="47" name="Text 44"/>
          <p:cNvSpPr txBox="1"/>
          <p:nvPr/>
        </p:nvSpPr>
        <p:spPr>
          <a:xfrm>
            <a:off x="8723376" y="2103120"/>
            <a:ext cx="2654503" cy="566928"/>
          </a:xfrm>
          <a:prstGeom prst="rect">
            <a:avLst/>
          </a:prstGeom>
          <a:noFill/>
          <a:ln/>
        </p:spPr>
        <p:txBody>
          <a:bodyPr wrap="square" lIns="0" tIns="0" rIns="0" bIns="0" rtlCol="0" anchor="b"/>
          <a:lstStyle/>
          <a:p>
            <a:pPr indent="0" marL="0">
              <a:buNone/>
            </a:pPr>
            <a:r>
              <a:rPr lang="en-US" sz="3400" dirty="0">
                <a:solidFill>
                  <a:srgbClr val="B85D1C"/>
                </a:solidFill>
              </a:rPr>
              <a:t>+0.033</a:t>
            </a:r>
            <a:endParaRPr lang="en-US" sz="3400" dirty="0"/>
          </a:p>
        </p:txBody>
      </p:sp>
      <p:sp>
        <p:nvSpPr>
          <p:cNvPr id="48" name="Text 45"/>
          <p:cNvSpPr txBox="1"/>
          <p:nvPr/>
        </p:nvSpPr>
        <p:spPr>
          <a:xfrm>
            <a:off x="8723376" y="2724912"/>
            <a:ext cx="2654503" cy="566928"/>
          </a:xfrm>
          <a:prstGeom prst="rect">
            <a:avLst/>
          </a:prstGeom>
          <a:noFill/>
          <a:ln/>
        </p:spPr>
        <p:txBody>
          <a:bodyPr wrap="square" lIns="0" tIns="0" rIns="0" bIns="0" rtlCol="0" anchor="t"/>
          <a:lstStyle/>
          <a:p>
            <a:pPr indent="0" marL="0">
              <a:buNone/>
            </a:pPr>
            <a:r>
              <a:rPr lang="en-US" sz="1150" dirty="0">
                <a:solidFill>
                  <a:srgbClr val="3A4453"/>
                </a:solidFill>
              </a:rPr>
              <a:t>change in S per sd of dispersion (p = 0.13): the opposite sign to H3</a:t>
            </a:r>
            <a:endParaRPr lang="en-US" sz="1150" dirty="0"/>
          </a:p>
        </p:txBody>
      </p:sp>
      <p:sp>
        <p:nvSpPr>
          <p:cNvPr id="49" name="Text 46"/>
          <p:cNvSpPr txBox="1"/>
          <p:nvPr/>
        </p:nvSpPr>
        <p:spPr>
          <a:xfrm>
            <a:off x="8723376" y="3429000"/>
            <a:ext cx="2654503" cy="566928"/>
          </a:xfrm>
          <a:prstGeom prst="rect">
            <a:avLst/>
          </a:prstGeom>
          <a:noFill/>
          <a:ln/>
        </p:spPr>
        <p:txBody>
          <a:bodyPr wrap="square" lIns="0" tIns="0" rIns="0" bIns="0" rtlCol="0" anchor="b"/>
          <a:lstStyle/>
          <a:p>
            <a:pPr indent="0" marL="0">
              <a:buNone/>
            </a:pPr>
            <a:r>
              <a:rPr lang="en-US" sz="3000" dirty="0">
                <a:solidFill>
                  <a:srgbClr val="2B5C9E"/>
                </a:solidFill>
              </a:rPr>
              <a:t>0 of 9</a:t>
            </a:r>
            <a:endParaRPr lang="en-US" sz="3000" dirty="0"/>
          </a:p>
        </p:txBody>
      </p:sp>
      <p:sp>
        <p:nvSpPr>
          <p:cNvPr id="50" name="Text 47"/>
          <p:cNvSpPr txBox="1"/>
          <p:nvPr/>
        </p:nvSpPr>
        <p:spPr>
          <a:xfrm>
            <a:off x="8723376" y="4050792"/>
            <a:ext cx="2654503" cy="566928"/>
          </a:xfrm>
          <a:prstGeom prst="rect">
            <a:avLst/>
          </a:prstGeom>
          <a:noFill/>
          <a:ln/>
        </p:spPr>
        <p:txBody>
          <a:bodyPr wrap="square" lIns="0" tIns="0" rIns="0" bIns="0" rtlCol="0" anchor="t"/>
          <a:lstStyle/>
          <a:p>
            <a:pPr indent="0" marL="0">
              <a:buNone/>
            </a:pPr>
            <a:r>
              <a:rPr lang="en-US" sz="1150" dirty="0">
                <a:solidFill>
                  <a:srgbClr val="3A4453"/>
                </a:solidFill>
              </a:rPr>
              <a:t>secondary tests survive Holm (by release, composite, CPI core, within-day, speed)</a:t>
            </a:r>
            <a:endParaRPr lang="en-US" sz="1150" dirty="0"/>
          </a:p>
        </p:txBody>
      </p:sp>
      <p:sp>
        <p:nvSpPr>
          <p:cNvPr id="51" name="Text 48"/>
          <p:cNvSpPr txBox="1"/>
          <p:nvPr/>
        </p:nvSpPr>
        <p:spPr>
          <a:xfrm>
            <a:off x="8723376" y="4709160"/>
            <a:ext cx="2654503" cy="566928"/>
          </a:xfrm>
          <a:prstGeom prst="rect">
            <a:avLst/>
          </a:prstGeom>
          <a:noFill/>
          <a:ln/>
        </p:spPr>
        <p:txBody>
          <a:bodyPr wrap="square" lIns="0" tIns="0" rIns="0" bIns="0" rtlCol="0" anchor="b"/>
          <a:lstStyle/>
          <a:p>
            <a:pPr indent="0" marL="0">
              <a:buNone/>
            </a:pPr>
            <a:r>
              <a:rPr lang="en-US" sz="3000" dirty="0">
                <a:solidFill>
                  <a:srgbClr val="2B5C9E"/>
                </a:solidFill>
              </a:rPr>
              <a:t>−2.8 s</a:t>
            </a:r>
            <a:endParaRPr lang="en-US" sz="3000" dirty="0"/>
          </a:p>
        </p:txBody>
      </p:sp>
      <p:sp>
        <p:nvSpPr>
          <p:cNvPr id="52" name="Text 49"/>
          <p:cNvSpPr txBox="1"/>
          <p:nvPr/>
        </p:nvSpPr>
        <p:spPr>
          <a:xfrm>
            <a:off x="8723376" y="5330952"/>
            <a:ext cx="2654503" cy="566928"/>
          </a:xfrm>
          <a:prstGeom prst="rect">
            <a:avLst/>
          </a:prstGeom>
          <a:noFill/>
          <a:ln/>
        </p:spPr>
        <p:txBody>
          <a:bodyPr wrap="square" lIns="0" tIns="0" rIns="0" bIns="0" rtlCol="0" anchor="t"/>
          <a:lstStyle/>
          <a:p>
            <a:pPr indent="0" marL="0">
              <a:buNone/>
            </a:pPr>
            <a:r>
              <a:rPr lang="en-US" sz="1150" dirty="0">
                <a:solidFill>
                  <a:srgbClr val="3A4453"/>
                </a:solidFill>
              </a:rPr>
              <a:t>speed outcome: more disagreement, if anything faster (p = 0.17)</a:t>
            </a:r>
            <a:endParaRPr lang="en-US" sz="115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RESULTS · H3</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What the H3 result does and does not show</a:t>
            </a:r>
            <a:endParaRPr lang="en-US" sz="2800" dirty="0"/>
          </a:p>
        </p:txBody>
      </p:sp>
      <p:sp>
        <p:nvSpPr>
          <p:cNvPr id="5" name="card"/>
          <p:cNvSpPr/>
          <p:nvPr/>
        </p:nvSpPr>
        <p:spPr>
          <a:xfrm>
            <a:off x="813816" y="1920240"/>
            <a:ext cx="3338474" cy="2514600"/>
          </a:xfrm>
          <a:prstGeom prst="roundRect">
            <a:avLst>
              <a:gd name="adj" fmla="val 2182"/>
            </a:avLst>
          </a:prstGeom>
          <a:solidFill>
            <a:srgbClr val="FBFAF7"/>
          </a:solidFill>
          <a:ln w="9525">
            <a:solidFill>
              <a:srgbClr val="E3E1DC"/>
            </a:solidFill>
            <a:prstDash val="solid"/>
          </a:ln>
        </p:spPr>
      </p:sp>
      <p:sp>
        <p:nvSpPr>
          <p:cNvPr id="6" name="Text 3"/>
          <p:cNvSpPr txBox="1"/>
          <p:nvPr/>
        </p:nvSpPr>
        <p:spPr>
          <a:xfrm>
            <a:off x="1042416" y="2103120"/>
            <a:ext cx="2881274" cy="256032"/>
          </a:xfrm>
          <a:prstGeom prst="rect">
            <a:avLst/>
          </a:prstGeom>
          <a:noFill/>
          <a:ln/>
        </p:spPr>
        <p:txBody>
          <a:bodyPr wrap="square" lIns="0" tIns="0" rIns="0" bIns="0" rtlCol="0" anchor="t"/>
          <a:lstStyle/>
          <a:p>
            <a:pPr indent="0" marL="0">
              <a:buNone/>
            </a:pPr>
            <a:r>
              <a:rPr lang="en-US" sz="1050" b="1" dirty="0">
                <a:solidFill>
                  <a:srgbClr val="B85D1C"/>
                </a:solidFill>
              </a:rPr>
              <a:t>PAYROLL SCALE</a:t>
            </a:r>
            <a:endParaRPr lang="en-US" sz="1050" dirty="0"/>
          </a:p>
        </p:txBody>
      </p:sp>
      <p:sp>
        <p:nvSpPr>
          <p:cNvPr id="7" name="Text 4"/>
          <p:cNvSpPr txBox="1"/>
          <p:nvPr/>
        </p:nvSpPr>
        <p:spPr>
          <a:xfrm>
            <a:off x="1042416" y="2468880"/>
            <a:ext cx="2881274" cy="1828800"/>
          </a:xfrm>
          <a:prstGeom prst="rect">
            <a:avLst/>
          </a:prstGeom>
          <a:noFill/>
          <a:ln/>
        </p:spPr>
        <p:txBody>
          <a:bodyPr wrap="square" lIns="0" tIns="0" rIns="0" bIns="0" rtlCol="0" anchor="t"/>
          <a:lstStyle/>
          <a:p>
            <a:pPr indent="0" marL="0">
              <a:buNone/>
            </a:pPr>
            <a:r>
              <a:rPr lang="en-US" sz="1250" dirty="0">
                <a:solidFill>
                  <a:srgbClr val="3A4453"/>
                </a:solidFill>
              </a:rPr>
              <a:t>2020 ranges set the scale; outside 2020 the payroll z-score barely varies (sd ≈ 0.02). Median/MAD standardization, logged post-freeze: β = +0.015, p = 0.19.</a:t>
            </a:r>
            <a:endParaRPr lang="en-US" sz="1250" dirty="0"/>
          </a:p>
        </p:txBody>
      </p:sp>
      <p:sp>
        <p:nvSpPr>
          <p:cNvPr id="8" name="card"/>
          <p:cNvSpPr/>
          <p:nvPr/>
        </p:nvSpPr>
        <p:spPr>
          <a:xfrm>
            <a:off x="4426610" y="1920240"/>
            <a:ext cx="3338474" cy="2514600"/>
          </a:xfrm>
          <a:prstGeom prst="roundRect">
            <a:avLst>
              <a:gd name="adj" fmla="val 2182"/>
            </a:avLst>
          </a:prstGeom>
          <a:solidFill>
            <a:srgbClr val="FBFAF7"/>
          </a:solidFill>
          <a:ln w="9525">
            <a:solidFill>
              <a:srgbClr val="E3E1DC"/>
            </a:solidFill>
            <a:prstDash val="solid"/>
          </a:ln>
        </p:spPr>
      </p:sp>
      <p:sp>
        <p:nvSpPr>
          <p:cNvPr id="9" name="Text 6"/>
          <p:cNvSpPr txBox="1"/>
          <p:nvPr/>
        </p:nvSpPr>
        <p:spPr>
          <a:xfrm>
            <a:off x="4655210" y="2103120"/>
            <a:ext cx="2881274" cy="256032"/>
          </a:xfrm>
          <a:prstGeom prst="rect">
            <a:avLst/>
          </a:prstGeom>
          <a:noFill/>
          <a:ln/>
        </p:spPr>
        <p:txBody>
          <a:bodyPr wrap="square" lIns="0" tIns="0" rIns="0" bIns="0" rtlCol="0" anchor="t"/>
          <a:lstStyle/>
          <a:p>
            <a:pPr indent="0" marL="0">
              <a:buNone/>
            </a:pPr>
            <a:r>
              <a:rPr lang="en-US" sz="1050" b="1" dirty="0">
                <a:solidFill>
                  <a:srgbClr val="B85D1C"/>
                </a:solidFill>
              </a:rPr>
              <a:t>CPI QUANTIZATION</a:t>
            </a:r>
            <a:endParaRPr lang="en-US" sz="1050" dirty="0"/>
          </a:p>
        </p:txBody>
      </p:sp>
      <p:sp>
        <p:nvSpPr>
          <p:cNvPr id="10" name="Text 7"/>
          <p:cNvSpPr txBox="1"/>
          <p:nvPr/>
        </p:nvSpPr>
        <p:spPr>
          <a:xfrm>
            <a:off x="4655210" y="2468880"/>
            <a:ext cx="2881274" cy="1828800"/>
          </a:xfrm>
          <a:prstGeom prst="rect">
            <a:avLst/>
          </a:prstGeom>
          <a:noFill/>
          <a:ln/>
        </p:spPr>
        <p:txBody>
          <a:bodyPr wrap="square" lIns="0" tIns="0" rIns="0" bIns="0" rtlCol="0" anchor="t"/>
          <a:lstStyle/>
          <a:p>
            <a:pPr indent="0" marL="0">
              <a:buNone/>
            </a:pPr>
            <a:r>
              <a:rPr lang="en-US" sz="1250" dirty="0">
                <a:solidFill>
                  <a:srgbClr val="3A4453"/>
                </a:solidFill>
              </a:rPr>
              <a:t>CPI survey ranges move in steps of 0.1, so D takes a handful of values. ECOS forecast standard deviations will be used as a calibration check.</a:t>
            </a:r>
            <a:endParaRPr lang="en-US" sz="1250" dirty="0"/>
          </a:p>
        </p:txBody>
      </p:sp>
      <p:sp>
        <p:nvSpPr>
          <p:cNvPr id="11" name="card"/>
          <p:cNvSpPr/>
          <p:nvPr/>
        </p:nvSpPr>
        <p:spPr>
          <a:xfrm>
            <a:off x="8039405" y="1920240"/>
            <a:ext cx="3338474" cy="2514600"/>
          </a:xfrm>
          <a:prstGeom prst="roundRect">
            <a:avLst>
              <a:gd name="adj" fmla="val 2182"/>
            </a:avLst>
          </a:prstGeom>
          <a:solidFill>
            <a:srgbClr val="FBFAF7"/>
          </a:solidFill>
          <a:ln w="9525">
            <a:solidFill>
              <a:srgbClr val="E3E1DC"/>
            </a:solidFill>
            <a:prstDash val="solid"/>
          </a:ln>
        </p:spPr>
      </p:sp>
      <p:sp>
        <p:nvSpPr>
          <p:cNvPr id="12" name="Text 9"/>
          <p:cNvSpPr txBox="1"/>
          <p:nvPr/>
        </p:nvSpPr>
        <p:spPr>
          <a:xfrm>
            <a:off x="8268005" y="2103120"/>
            <a:ext cx="2881274" cy="256032"/>
          </a:xfrm>
          <a:prstGeom prst="rect">
            <a:avLst/>
          </a:prstGeom>
          <a:noFill/>
          <a:ln/>
        </p:spPr>
        <p:txBody>
          <a:bodyPr wrap="square" lIns="0" tIns="0" rIns="0" bIns="0" rtlCol="0" anchor="t"/>
          <a:lstStyle/>
          <a:p>
            <a:pPr indent="0" marL="0">
              <a:buNone/>
            </a:pPr>
            <a:r>
              <a:rPr lang="en-US" sz="1050" b="1" dirty="0">
                <a:solidFill>
                  <a:srgbClr val="B85D1C"/>
                </a:solidFill>
              </a:rPr>
              <a:t>NO HELD-OUT SAMPLE</a:t>
            </a:r>
            <a:endParaRPr lang="en-US" sz="1050" dirty="0"/>
          </a:p>
        </p:txBody>
      </p:sp>
      <p:sp>
        <p:nvSpPr>
          <p:cNvPr id="13" name="Text 10"/>
          <p:cNvSpPr txBox="1"/>
          <p:nvPr/>
        </p:nvSpPr>
        <p:spPr>
          <a:xfrm>
            <a:off x="8268005" y="2468880"/>
            <a:ext cx="2881274" cy="1828800"/>
          </a:xfrm>
          <a:prstGeom prst="rect">
            <a:avLst/>
          </a:prstGeom>
          <a:noFill/>
          <a:ln/>
        </p:spPr>
        <p:txBody>
          <a:bodyPr wrap="square" lIns="0" tIns="0" rIns="0" bIns="0" rtlCol="0" anchor="t"/>
          <a:lstStyle/>
          <a:p>
            <a:pPr indent="0" marL="0">
              <a:buNone/>
            </a:pPr>
            <a:r>
              <a:rPr lang="en-US" sz="1250" dirty="0">
                <a:solidFill>
                  <a:srgbClr val="3A4453"/>
                </a:solidFill>
              </a:rPr>
              <a:t>2015–2026 was used in one pass, as pre-declared. This is a single test; the forward sample will become the replication.</a:t>
            </a:r>
            <a:endParaRPr lang="en-US" sz="1250" dirty="0"/>
          </a:p>
        </p:txBody>
      </p:sp>
      <p:sp>
        <p:nvSpPr>
          <p:cNvPr id="14" name="caveat"/>
          <p:cNvSpPr/>
          <p:nvPr/>
        </p:nvSpPr>
        <p:spPr>
          <a:xfrm>
            <a:off x="813816" y="4754880"/>
            <a:ext cx="10564063" cy="914400"/>
          </a:xfrm>
          <a:prstGeom prst="rect">
            <a:avLst/>
          </a:prstGeom>
          <a:solidFill>
            <a:srgbClr val="EBE7DE"/>
          </a:solidFill>
          <a:ln/>
        </p:spPr>
      </p:sp>
      <p:sp>
        <p:nvSpPr>
          <p:cNvPr id="15" name="caveat-mark"/>
          <p:cNvSpPr/>
          <p:nvPr/>
        </p:nvSpPr>
        <p:spPr>
          <a:xfrm>
            <a:off x="813816" y="4754880"/>
            <a:ext cx="45720" cy="914400"/>
          </a:xfrm>
          <a:prstGeom prst="rect">
            <a:avLst/>
          </a:prstGeom>
          <a:solidFill>
            <a:srgbClr val="D98A4A"/>
          </a:solidFill>
          <a:ln/>
        </p:spPr>
      </p:sp>
      <p:sp>
        <p:nvSpPr>
          <p:cNvPr id="16" name="Text 13"/>
          <p:cNvSpPr txBox="1"/>
          <p:nvPr/>
        </p:nvSpPr>
        <p:spPr>
          <a:xfrm>
            <a:off x="1088136" y="4754880"/>
            <a:ext cx="10106863" cy="914400"/>
          </a:xfrm>
          <a:prstGeom prst="rect">
            <a:avLst/>
          </a:prstGeom>
          <a:noFill/>
          <a:ln/>
        </p:spPr>
        <p:txBody>
          <a:bodyPr wrap="square" lIns="0" tIns="0" rIns="0" bIns="0" rtlCol="0" anchor="ctr"/>
          <a:lstStyle/>
          <a:p>
            <a:pPr indent="0" marL="0">
              <a:buNone/>
            </a:pPr>
            <a:r>
              <a:rPr lang="en-US" sz="1300" b="1" dirty="0">
                <a:solidFill>
                  <a:srgbClr val="16202E"/>
                </a:solidFill>
              </a:rPr>
              <a:t>Reading: </a:t>
            </a:r>
            <a:pPr indent="0" marL="0">
              <a:buNone/>
            </a:pPr>
            <a:r>
              <a:rPr lang="en-US" sz="1300" dirty="0">
                <a:solidFill>
                  <a:srgbClr val="16202E"/>
                </a:solidFill>
              </a:rPr>
              <a:t>forecaster disagreement does not push absorption toward trades at the arrival. If anything, high-dispersion CPI and PPI releases are slightly more quote-driven, and only in NQ, the contract with room for S to move (+0.068, p = 0.004 unadjusted).</a:t>
            </a:r>
            <a:endParaRPr lang="en-US" sz="130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RESULTS · H5 AND H6</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Price paths separate by direction, not by speed</a:t>
            </a:r>
            <a:endParaRPr lang="en-US" sz="2800" dirty="0"/>
          </a:p>
        </p:txBody>
      </p:sp>
      <p:pic>
        <p:nvPicPr>
          <p:cNvPr id="5" name="Image 0" descr="Median return paths after hawkish and dovish FOMC surprises for the ES+NQ average and ZN, 1 second to 30 minutes">    </p:cNvPr>
          <p:cNvPicPr>
            <a:picLocks noChangeAspect="1"/>
          </p:cNvPicPr>
          <p:nvPr/>
        </p:nvPicPr>
        <p:blipFill>
          <a:blip r:embed="rId1"/>
          <a:stretch>
            <a:fillRect/>
          </a:stretch>
        </p:blipFill>
        <p:spPr>
          <a:xfrm>
            <a:off x="813816" y="1783080"/>
            <a:ext cx="9509760" cy="3396343"/>
          </a:xfrm>
          <a:prstGeom prst="rect">
            <a:avLst/>
          </a:prstGeom>
        </p:spPr>
      </p:pic>
      <p:sp>
        <p:nvSpPr>
          <p:cNvPr id="6" name="caveat"/>
          <p:cNvSpPr/>
          <p:nvPr/>
        </p:nvSpPr>
        <p:spPr>
          <a:xfrm>
            <a:off x="813816" y="5362303"/>
            <a:ext cx="10564063" cy="548640"/>
          </a:xfrm>
          <a:prstGeom prst="rect">
            <a:avLst/>
          </a:prstGeom>
          <a:solidFill>
            <a:srgbClr val="EBE7DE"/>
          </a:solidFill>
          <a:ln/>
        </p:spPr>
      </p:sp>
      <p:sp>
        <p:nvSpPr>
          <p:cNvPr id="7" name="caveat-mark"/>
          <p:cNvSpPr/>
          <p:nvPr/>
        </p:nvSpPr>
        <p:spPr>
          <a:xfrm>
            <a:off x="813816" y="5362303"/>
            <a:ext cx="45720" cy="548640"/>
          </a:xfrm>
          <a:prstGeom prst="rect">
            <a:avLst/>
          </a:prstGeom>
          <a:solidFill>
            <a:srgbClr val="D98A4A"/>
          </a:solidFill>
          <a:ln/>
        </p:spPr>
      </p:sp>
      <p:sp>
        <p:nvSpPr>
          <p:cNvPr id="8" name="Text 4"/>
          <p:cNvSpPr txBox="1"/>
          <p:nvPr/>
        </p:nvSpPr>
        <p:spPr>
          <a:xfrm>
            <a:off x="1088136" y="5362303"/>
            <a:ext cx="10106863" cy="548640"/>
          </a:xfrm>
          <a:prstGeom prst="rect">
            <a:avLst/>
          </a:prstGeom>
          <a:noFill/>
          <a:ln/>
        </p:spPr>
        <p:txBody>
          <a:bodyPr wrap="square" lIns="0" tIns="0" rIns="0" bIns="0" rtlCol="0" anchor="ctr"/>
          <a:lstStyle/>
          <a:p>
            <a:pPr indent="0" marL="0">
              <a:buNone/>
            </a:pPr>
            <a:r>
              <a:rPr lang="en-US" sz="1300" b="1" dirty="0">
                <a:solidFill>
                  <a:srgbClr val="16202E"/>
                </a:solidFill>
              </a:rPr>
              <a:t>Test: </a:t>
            </a:r>
            <a:pPr indent="0" marL="0">
              <a:buNone/>
            </a:pPr>
            <a:r>
              <a:rPr lang="en-US" sz="1300" dirty="0">
                <a:solidFill>
                  <a:srgbClr val="16202E"/>
                </a:solidFill>
              </a:rPr>
              <a:t>β_hawk = β_dove per bp of surprise. p = 0.05–0.85 across horizons, none significant after Holm. H5: no equity cell survives Holm either.</a:t>
            </a:r>
            <a:endParaRPr lang="en-US" sz="130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RESULTS · SPREAD</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NQ's spread spikes at the release, more for big surprises</a:t>
            </a:r>
            <a:endParaRPr lang="en-US" sz="2800" dirty="0"/>
          </a:p>
        </p:txBody>
      </p:sp>
      <p:pic>
        <p:nvPicPr>
          <p:cNvPr id="5" name="Image 0" descr="NQ mean spread in ticks from 60 seconds before to 120 seconds after the FOMC statement, by surprise tercile">    </p:cNvPr>
          <p:cNvPicPr>
            <a:picLocks noChangeAspect="1"/>
          </p:cNvPicPr>
          <p:nvPr/>
        </p:nvPicPr>
        <p:blipFill>
          <a:blip r:embed="rId1"/>
          <a:stretch>
            <a:fillRect/>
          </a:stretch>
        </p:blipFill>
        <p:spPr>
          <a:xfrm>
            <a:off x="813816" y="1783080"/>
            <a:ext cx="10564063" cy="3033284"/>
          </a:xfrm>
          <a:prstGeom prst="rect">
            <a:avLst/>
          </a:prstGeom>
        </p:spPr>
      </p:pic>
      <p:sp>
        <p:nvSpPr>
          <p:cNvPr id="6" name="Text 2"/>
          <p:cNvSpPr txBox="1"/>
          <p:nvPr/>
        </p:nvSpPr>
        <p:spPr>
          <a:xfrm>
            <a:off x="813816" y="5044964"/>
            <a:ext cx="3338474" cy="566928"/>
          </a:xfrm>
          <a:prstGeom prst="rect">
            <a:avLst/>
          </a:prstGeom>
          <a:noFill/>
          <a:ln/>
        </p:spPr>
        <p:txBody>
          <a:bodyPr wrap="square" lIns="0" tIns="0" rIns="0" bIns="0" rtlCol="0" anchor="b"/>
          <a:lstStyle/>
          <a:p>
            <a:pPr indent="0" marL="0">
              <a:buNone/>
            </a:pPr>
            <a:r>
              <a:rPr lang="en-US" sz="3000" dirty="0">
                <a:solidFill>
                  <a:srgbClr val="5B6472"/>
                </a:solidFill>
              </a:rPr>
              <a:t>≈1.7 ticks</a:t>
            </a:r>
            <a:endParaRPr lang="en-US" sz="3000" dirty="0"/>
          </a:p>
        </p:txBody>
      </p:sp>
      <p:sp>
        <p:nvSpPr>
          <p:cNvPr id="7" name="Text 3"/>
          <p:cNvSpPr txBox="1"/>
          <p:nvPr/>
        </p:nvSpPr>
        <p:spPr>
          <a:xfrm>
            <a:off x="813816" y="5666756"/>
            <a:ext cx="3338474" cy="566928"/>
          </a:xfrm>
          <a:prstGeom prst="rect">
            <a:avLst/>
          </a:prstGeom>
          <a:noFill/>
          <a:ln/>
        </p:spPr>
        <p:txBody>
          <a:bodyPr wrap="square" lIns="0" tIns="0" rIns="0" bIns="0" rtlCol="0" anchor="t"/>
          <a:lstStyle/>
          <a:p>
            <a:pPr indent="0" marL="0">
              <a:buNone/>
            </a:pPr>
            <a:r>
              <a:rPr lang="en-US" sz="1150" dirty="0">
                <a:solidFill>
                  <a:srgbClr val="3A4453"/>
                </a:solidFill>
              </a:rPr>
              <a:t>NQ spread on normal days at the same clock</a:t>
            </a:r>
            <a:endParaRPr lang="en-US" sz="1150" dirty="0"/>
          </a:p>
        </p:txBody>
      </p:sp>
      <p:sp>
        <p:nvSpPr>
          <p:cNvPr id="8" name="Text 4"/>
          <p:cNvSpPr txBox="1"/>
          <p:nvPr/>
        </p:nvSpPr>
        <p:spPr>
          <a:xfrm>
            <a:off x="4426610" y="5044964"/>
            <a:ext cx="3338474" cy="566928"/>
          </a:xfrm>
          <a:prstGeom prst="rect">
            <a:avLst/>
          </a:prstGeom>
          <a:noFill/>
          <a:ln/>
        </p:spPr>
        <p:txBody>
          <a:bodyPr wrap="square" lIns="0" tIns="0" rIns="0" bIns="0" rtlCol="0" anchor="b"/>
          <a:lstStyle/>
          <a:p>
            <a:pPr indent="0" marL="0">
              <a:buNone/>
            </a:pPr>
            <a:r>
              <a:rPr lang="en-US" sz="3000" dirty="0">
                <a:solidFill>
                  <a:srgbClr val="B85D1C"/>
                </a:solidFill>
              </a:rPr>
              <a:t>≈12 → 21</a:t>
            </a:r>
            <a:endParaRPr lang="en-US" sz="3000" dirty="0"/>
          </a:p>
        </p:txBody>
      </p:sp>
      <p:sp>
        <p:nvSpPr>
          <p:cNvPr id="9" name="Text 5"/>
          <p:cNvSpPr txBox="1"/>
          <p:nvPr/>
        </p:nvSpPr>
        <p:spPr>
          <a:xfrm>
            <a:off x="4426610" y="5666756"/>
            <a:ext cx="3338474" cy="566928"/>
          </a:xfrm>
          <a:prstGeom prst="rect">
            <a:avLst/>
          </a:prstGeom>
          <a:noFill/>
          <a:ln/>
        </p:spPr>
        <p:txBody>
          <a:bodyPr wrap="square" lIns="0" tIns="0" rIns="0" bIns="0" rtlCol="0" anchor="t"/>
          <a:lstStyle/>
          <a:p>
            <a:pPr indent="0" marL="0">
              <a:buNone/>
            </a:pPr>
            <a:r>
              <a:rPr lang="en-US" sz="1150" dirty="0">
                <a:solidFill>
                  <a:srgbClr val="3A4453"/>
                </a:solidFill>
              </a:rPr>
              <a:t>peak mean spread in ticks, small vs large surprises (read from the figure)</a:t>
            </a:r>
            <a:endParaRPr lang="en-US" sz="1150" dirty="0"/>
          </a:p>
        </p:txBody>
      </p:sp>
      <p:sp>
        <p:nvSpPr>
          <p:cNvPr id="10" name="Text 6"/>
          <p:cNvSpPr txBox="1"/>
          <p:nvPr/>
        </p:nvSpPr>
        <p:spPr>
          <a:xfrm>
            <a:off x="8039405" y="5044964"/>
            <a:ext cx="3338474" cy="566928"/>
          </a:xfrm>
          <a:prstGeom prst="rect">
            <a:avLst/>
          </a:prstGeom>
          <a:noFill/>
          <a:ln/>
        </p:spPr>
        <p:txBody>
          <a:bodyPr wrap="square" lIns="0" tIns="0" rIns="0" bIns="0" rtlCol="0" anchor="b"/>
          <a:lstStyle/>
          <a:p>
            <a:pPr indent="0" marL="0">
              <a:buNone/>
            </a:pPr>
            <a:r>
              <a:rPr lang="en-US" sz="3000" dirty="0">
                <a:solidFill>
                  <a:srgbClr val="2B5C9E"/>
                </a:solidFill>
              </a:rPr>
              <a:t>≈30 s</a:t>
            </a:r>
            <a:endParaRPr lang="en-US" sz="3000" dirty="0"/>
          </a:p>
        </p:txBody>
      </p:sp>
      <p:sp>
        <p:nvSpPr>
          <p:cNvPr id="11" name="Text 7"/>
          <p:cNvSpPr txBox="1"/>
          <p:nvPr/>
        </p:nvSpPr>
        <p:spPr>
          <a:xfrm>
            <a:off x="8039405" y="5666756"/>
            <a:ext cx="3338474" cy="566928"/>
          </a:xfrm>
          <a:prstGeom prst="rect">
            <a:avLst/>
          </a:prstGeom>
          <a:noFill/>
          <a:ln/>
        </p:spPr>
        <p:txBody>
          <a:bodyPr wrap="square" lIns="0" tIns="0" rIns="0" bIns="0" rtlCol="0" anchor="t"/>
          <a:lstStyle/>
          <a:p>
            <a:pPr indent="0" marL="0">
              <a:buNone/>
            </a:pPr>
            <a:r>
              <a:rPr lang="en-US" sz="1150" dirty="0">
                <a:solidFill>
                  <a:srgbClr val="3A4453"/>
                </a:solidFill>
              </a:rPr>
              <a:t>for the spread to fall back toward its pre-release level</a:t>
            </a:r>
            <a:endParaRPr lang="en-US" sz="115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EXPLORATORY · Q3</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Which contract moves first depends on the release</a:t>
            </a:r>
            <a:endParaRPr lang="en-US" sz="2800" dirty="0"/>
          </a:p>
        </p:txBody>
      </p:sp>
      <p:sp>
        <p:nvSpPr>
          <p:cNvPr id="5" name="card"/>
          <p:cNvSpPr/>
          <p:nvPr/>
        </p:nvSpPr>
        <p:spPr>
          <a:xfrm>
            <a:off x="813816" y="1920240"/>
            <a:ext cx="3338474" cy="2743200"/>
          </a:xfrm>
          <a:prstGeom prst="roundRect">
            <a:avLst>
              <a:gd name="adj" fmla="val 2000"/>
            </a:avLst>
          </a:prstGeom>
          <a:solidFill>
            <a:srgbClr val="FBFAF7"/>
          </a:solidFill>
          <a:ln w="9525">
            <a:solidFill>
              <a:srgbClr val="E3E1DC"/>
            </a:solidFill>
            <a:prstDash val="solid"/>
          </a:ln>
        </p:spPr>
      </p:sp>
      <p:sp>
        <p:nvSpPr>
          <p:cNvPr id="6" name="Text 3"/>
          <p:cNvSpPr txBox="1"/>
          <p:nvPr/>
        </p:nvSpPr>
        <p:spPr>
          <a:xfrm>
            <a:off x="1088136" y="2103120"/>
            <a:ext cx="2789834" cy="256032"/>
          </a:xfrm>
          <a:prstGeom prst="rect">
            <a:avLst/>
          </a:prstGeom>
          <a:noFill/>
          <a:ln/>
        </p:spPr>
        <p:txBody>
          <a:bodyPr wrap="square" lIns="0" tIns="0" rIns="0" bIns="0" rtlCol="0" anchor="t"/>
          <a:lstStyle/>
          <a:p>
            <a:pPr indent="0" marL="0">
              <a:buNone/>
            </a:pPr>
            <a:r>
              <a:rPr lang="en-US" sz="1050" b="1" dirty="0">
                <a:solidFill>
                  <a:srgbClr val="2B5C9E"/>
                </a:solidFill>
              </a:rPr>
              <a:t>JOBS REPORT, 2020–2026</a:t>
            </a:r>
            <a:endParaRPr lang="en-US" sz="1050" dirty="0"/>
          </a:p>
        </p:txBody>
      </p:sp>
      <p:sp>
        <p:nvSpPr>
          <p:cNvPr id="7" name="Text 4"/>
          <p:cNvSpPr txBox="1"/>
          <p:nvPr/>
        </p:nvSpPr>
        <p:spPr>
          <a:xfrm>
            <a:off x="1088136" y="2468880"/>
            <a:ext cx="2789834" cy="777240"/>
          </a:xfrm>
          <a:prstGeom prst="rect">
            <a:avLst/>
          </a:prstGeom>
          <a:noFill/>
          <a:ln/>
        </p:spPr>
        <p:txBody>
          <a:bodyPr wrap="square" lIns="0" tIns="0" rIns="0" bIns="0" rtlCol="0" anchor="b"/>
          <a:lstStyle/>
          <a:p>
            <a:pPr indent="0" marL="0">
              <a:buNone/>
            </a:pPr>
            <a:r>
              <a:rPr lang="en-US" sz="4000" dirty="0">
                <a:solidFill>
                  <a:srgbClr val="2B5C9E"/>
                </a:solidFill>
              </a:rPr>
              <a:t>33 of 43</a:t>
            </a:r>
            <a:endParaRPr lang="en-US" sz="4000" dirty="0"/>
          </a:p>
        </p:txBody>
      </p:sp>
      <p:sp>
        <p:nvSpPr>
          <p:cNvPr id="8" name="Text 5"/>
          <p:cNvSpPr txBox="1"/>
          <p:nvPr/>
        </p:nvSpPr>
        <p:spPr>
          <a:xfrm>
            <a:off x="1088136" y="3383280"/>
            <a:ext cx="2789834" cy="1097280"/>
          </a:xfrm>
          <a:prstGeom prst="rect">
            <a:avLst/>
          </a:prstGeom>
          <a:noFill/>
          <a:ln/>
        </p:spPr>
        <p:txBody>
          <a:bodyPr wrap="square" lIns="0" tIns="0" rIns="0" bIns="0" rtlCol="0" anchor="t"/>
          <a:lstStyle/>
          <a:p>
            <a:pPr indent="0" marL="0">
              <a:buNone/>
            </a:pPr>
            <a:r>
              <a:rPr lang="en-US" sz="1250" dirty="0">
                <a:solidFill>
                  <a:srgbClr val="3A4453"/>
                </a:solidFill>
              </a:rPr>
              <a:t>untied cases where ZN moves before ES; median lead 19 ms (Holm p = 0.014)</a:t>
            </a:r>
            <a:endParaRPr lang="en-US" sz="1250" dirty="0"/>
          </a:p>
        </p:txBody>
      </p:sp>
      <p:sp>
        <p:nvSpPr>
          <p:cNvPr id="9" name="card"/>
          <p:cNvSpPr/>
          <p:nvPr/>
        </p:nvSpPr>
        <p:spPr>
          <a:xfrm>
            <a:off x="4426610" y="1920240"/>
            <a:ext cx="3338474" cy="2743200"/>
          </a:xfrm>
          <a:prstGeom prst="roundRect">
            <a:avLst>
              <a:gd name="adj" fmla="val 2000"/>
            </a:avLst>
          </a:prstGeom>
          <a:solidFill>
            <a:srgbClr val="FBFAF7"/>
          </a:solidFill>
          <a:ln w="9525">
            <a:solidFill>
              <a:srgbClr val="E3E1DC"/>
            </a:solidFill>
            <a:prstDash val="solid"/>
          </a:ln>
        </p:spPr>
      </p:sp>
      <p:sp>
        <p:nvSpPr>
          <p:cNvPr id="10" name="Text 7"/>
          <p:cNvSpPr txBox="1"/>
          <p:nvPr/>
        </p:nvSpPr>
        <p:spPr>
          <a:xfrm>
            <a:off x="4700930" y="2103120"/>
            <a:ext cx="2789834" cy="256032"/>
          </a:xfrm>
          <a:prstGeom prst="rect">
            <a:avLst/>
          </a:prstGeom>
          <a:noFill/>
          <a:ln/>
        </p:spPr>
        <p:txBody>
          <a:bodyPr wrap="square" lIns="0" tIns="0" rIns="0" bIns="0" rtlCol="0" anchor="t"/>
          <a:lstStyle/>
          <a:p>
            <a:pPr indent="0" marL="0">
              <a:buNone/>
            </a:pPr>
            <a:r>
              <a:rPr lang="en-US" sz="1050" b="1" dirty="0">
                <a:solidFill>
                  <a:srgbClr val="2B5C9E"/>
                </a:solidFill>
              </a:rPr>
              <a:t>FOMC STATEMENT, 2015–2019</a:t>
            </a:r>
            <a:endParaRPr lang="en-US" sz="1050" dirty="0"/>
          </a:p>
        </p:txBody>
      </p:sp>
      <p:sp>
        <p:nvSpPr>
          <p:cNvPr id="11" name="Text 8"/>
          <p:cNvSpPr txBox="1"/>
          <p:nvPr/>
        </p:nvSpPr>
        <p:spPr>
          <a:xfrm>
            <a:off x="4700930" y="2468880"/>
            <a:ext cx="2789834" cy="777240"/>
          </a:xfrm>
          <a:prstGeom prst="rect">
            <a:avLst/>
          </a:prstGeom>
          <a:noFill/>
          <a:ln/>
        </p:spPr>
        <p:txBody>
          <a:bodyPr wrap="square" lIns="0" tIns="0" rIns="0" bIns="0" rtlCol="0" anchor="b"/>
          <a:lstStyle/>
          <a:p>
            <a:pPr indent="0" marL="0">
              <a:buNone/>
            </a:pPr>
            <a:r>
              <a:rPr lang="en-US" sz="4000" dirty="0">
                <a:solidFill>
                  <a:srgbClr val="2B5C9E"/>
                </a:solidFill>
              </a:rPr>
              <a:t>12 of 12</a:t>
            </a:r>
            <a:endParaRPr lang="en-US" sz="4000" dirty="0"/>
          </a:p>
        </p:txBody>
      </p:sp>
      <p:sp>
        <p:nvSpPr>
          <p:cNvPr id="12" name="Text 9"/>
          <p:cNvSpPr txBox="1"/>
          <p:nvPr/>
        </p:nvSpPr>
        <p:spPr>
          <a:xfrm>
            <a:off x="4700930" y="3383280"/>
            <a:ext cx="2789834" cy="1097280"/>
          </a:xfrm>
          <a:prstGeom prst="rect">
            <a:avLst/>
          </a:prstGeom>
          <a:noFill/>
          <a:ln/>
        </p:spPr>
        <p:txBody>
          <a:bodyPr wrap="square" lIns="0" tIns="0" rIns="0" bIns="0" rtlCol="0" anchor="t"/>
          <a:lstStyle/>
          <a:p>
            <a:pPr indent="0" marL="0">
              <a:buNone/>
            </a:pPr>
            <a:r>
              <a:rPr lang="en-US" sz="1250" dirty="0">
                <a:solidFill>
                  <a:srgbClr val="3A4453"/>
                </a:solidFill>
              </a:rPr>
              <a:t>untied cases where ES moves before ZN; median lead 71 ms (p = 0.0005)</a:t>
            </a:r>
            <a:endParaRPr lang="en-US" sz="1250" dirty="0"/>
          </a:p>
        </p:txBody>
      </p:sp>
      <p:sp>
        <p:nvSpPr>
          <p:cNvPr id="13" name="card"/>
          <p:cNvSpPr/>
          <p:nvPr/>
        </p:nvSpPr>
        <p:spPr>
          <a:xfrm>
            <a:off x="8039405" y="1920240"/>
            <a:ext cx="3338474" cy="2743200"/>
          </a:xfrm>
          <a:prstGeom prst="roundRect">
            <a:avLst>
              <a:gd name="adj" fmla="val 2000"/>
            </a:avLst>
          </a:prstGeom>
          <a:solidFill>
            <a:srgbClr val="FBFAF7"/>
          </a:solidFill>
          <a:ln w="9525">
            <a:solidFill>
              <a:srgbClr val="E3E1DC"/>
            </a:solidFill>
            <a:prstDash val="solid"/>
          </a:ln>
        </p:spPr>
      </p:sp>
      <p:sp>
        <p:nvSpPr>
          <p:cNvPr id="14" name="Text 11"/>
          <p:cNvSpPr txBox="1"/>
          <p:nvPr/>
        </p:nvSpPr>
        <p:spPr>
          <a:xfrm>
            <a:off x="8313725" y="2103120"/>
            <a:ext cx="2789834" cy="256032"/>
          </a:xfrm>
          <a:prstGeom prst="rect">
            <a:avLst/>
          </a:prstGeom>
          <a:noFill/>
          <a:ln/>
        </p:spPr>
        <p:txBody>
          <a:bodyPr wrap="square" lIns="0" tIns="0" rIns="0" bIns="0" rtlCol="0" anchor="t"/>
          <a:lstStyle/>
          <a:p>
            <a:pPr indent="0" marL="0">
              <a:buNone/>
            </a:pPr>
            <a:r>
              <a:rPr lang="en-US" sz="1050" b="1" dirty="0">
                <a:solidFill>
                  <a:srgbClr val="5B6472"/>
                </a:solidFill>
              </a:rPr>
              <a:t>CPI AND PPI</a:t>
            </a:r>
            <a:endParaRPr lang="en-US" sz="1050" dirty="0"/>
          </a:p>
        </p:txBody>
      </p:sp>
      <p:sp>
        <p:nvSpPr>
          <p:cNvPr id="15" name="Text 12"/>
          <p:cNvSpPr txBox="1"/>
          <p:nvPr/>
        </p:nvSpPr>
        <p:spPr>
          <a:xfrm>
            <a:off x="8313725" y="2468880"/>
            <a:ext cx="2789834" cy="777240"/>
          </a:xfrm>
          <a:prstGeom prst="rect">
            <a:avLst/>
          </a:prstGeom>
          <a:noFill/>
          <a:ln/>
        </p:spPr>
        <p:txBody>
          <a:bodyPr wrap="square" lIns="0" tIns="0" rIns="0" bIns="0" rtlCol="0" anchor="b"/>
          <a:lstStyle/>
          <a:p>
            <a:pPr indent="0" marL="0">
              <a:buNone/>
            </a:pPr>
            <a:r>
              <a:rPr lang="en-US" sz="4000" dirty="0">
                <a:solidFill>
                  <a:srgbClr val="5B6472"/>
                </a:solidFill>
              </a:rPr>
              <a:t>No order</a:t>
            </a:r>
            <a:endParaRPr lang="en-US" sz="4000" dirty="0"/>
          </a:p>
        </p:txBody>
      </p:sp>
      <p:sp>
        <p:nvSpPr>
          <p:cNvPr id="16" name="Text 13"/>
          <p:cNvSpPr txBox="1"/>
          <p:nvPr/>
        </p:nvSpPr>
        <p:spPr>
          <a:xfrm>
            <a:off x="8313725" y="3383280"/>
            <a:ext cx="2789834" cy="1097280"/>
          </a:xfrm>
          <a:prstGeom prst="rect">
            <a:avLst/>
          </a:prstGeom>
          <a:noFill/>
          <a:ln/>
        </p:spPr>
        <p:txBody>
          <a:bodyPr wrap="square" lIns="0" tIns="0" rIns="0" bIns="0" rtlCol="0" anchor="t"/>
          <a:lstStyle/>
          <a:p>
            <a:pPr indent="0" marL="0">
              <a:buNone/>
            </a:pPr>
            <a:r>
              <a:rPr lang="en-US" sz="1250" dirty="0">
                <a:solidFill>
                  <a:srgbClr val="3A4453"/>
                </a:solidFill>
              </a:rPr>
              <a:t>no consistent leader between ES, NQ and ZN in any period</a:t>
            </a:r>
            <a:endParaRPr lang="en-US" sz="1250" dirty="0"/>
          </a:p>
        </p:txBody>
      </p:sp>
      <p:sp>
        <p:nvSpPr>
          <p:cNvPr id="17" name="caveat"/>
          <p:cNvSpPr/>
          <p:nvPr/>
        </p:nvSpPr>
        <p:spPr>
          <a:xfrm>
            <a:off x="813816" y="4983480"/>
            <a:ext cx="10564063" cy="731520"/>
          </a:xfrm>
          <a:prstGeom prst="rect">
            <a:avLst/>
          </a:prstGeom>
          <a:solidFill>
            <a:srgbClr val="EBE7DE"/>
          </a:solidFill>
          <a:ln/>
        </p:spPr>
      </p:sp>
      <p:sp>
        <p:nvSpPr>
          <p:cNvPr id="18" name="caveat-mark"/>
          <p:cNvSpPr/>
          <p:nvPr/>
        </p:nvSpPr>
        <p:spPr>
          <a:xfrm>
            <a:off x="813816" y="4983480"/>
            <a:ext cx="45720" cy="731520"/>
          </a:xfrm>
          <a:prstGeom prst="rect">
            <a:avLst/>
          </a:prstGeom>
          <a:solidFill>
            <a:srgbClr val="D98A4A"/>
          </a:solidFill>
          <a:ln/>
        </p:spPr>
      </p:sp>
      <p:sp>
        <p:nvSpPr>
          <p:cNvPr id="19" name="Text 16"/>
          <p:cNvSpPr txBox="1"/>
          <p:nvPr/>
        </p:nvSpPr>
        <p:spPr>
          <a:xfrm>
            <a:off x="1088136" y="4983480"/>
            <a:ext cx="10106863" cy="731520"/>
          </a:xfrm>
          <a:prstGeom prst="rect">
            <a:avLst/>
          </a:prstGeom>
          <a:noFill/>
          <a:ln/>
        </p:spPr>
        <p:txBody>
          <a:bodyPr wrap="square" lIns="0" tIns="0" rIns="0" bIns="0" rtlCol="0" anchor="ctr"/>
          <a:lstStyle/>
          <a:p>
            <a:pPr indent="0" marL="0">
              <a:buNone/>
            </a:pPr>
            <a:r>
              <a:rPr lang="en-US" sz="1300" b="1" dirty="0">
                <a:solidFill>
                  <a:srgbClr val="16202E"/>
                </a:solidFill>
              </a:rPr>
              <a:t>Caveat: </a:t>
            </a:r>
            <a:pPr indent="0" marL="0">
              <a:buNone/>
            </a:pPr>
            <a:r>
              <a:rPr lang="en-US" sz="1300" dirty="0">
                <a:solidFill>
                  <a:srgbClr val="16202E"/>
                </a:solidFill>
              </a:rPr>
              <a:t>exploratory; p-values are unadjusted except where Holm is shown. The lead is in milliseconds, so the result depends on exchange timestamps, which are used throughout.</a:t>
            </a:r>
            <a:endParaRPr lang="en-US" sz="130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NEXT STEPS</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Check the mechanism directly, then replicate</a:t>
            </a:r>
            <a:endParaRPr lang="en-US" sz="2800" dirty="0"/>
          </a:p>
        </p:txBody>
      </p:sp>
      <p:sp>
        <p:nvSpPr>
          <p:cNvPr id="5" name="step-01"/>
          <p:cNvSpPr/>
          <p:nvPr/>
        </p:nvSpPr>
        <p:spPr>
          <a:xfrm>
            <a:off x="813816" y="1874520"/>
            <a:ext cx="10564063" cy="960120"/>
          </a:xfrm>
          <a:prstGeom prst="roundRect">
            <a:avLst>
              <a:gd name="adj" fmla="val 5714"/>
            </a:avLst>
          </a:prstGeom>
          <a:solidFill>
            <a:srgbClr val="16202E"/>
          </a:solidFill>
          <a:ln/>
        </p:spPr>
      </p:sp>
      <p:sp>
        <p:nvSpPr>
          <p:cNvPr id="6" name="Text 3"/>
          <p:cNvSpPr txBox="1"/>
          <p:nvPr/>
        </p:nvSpPr>
        <p:spPr>
          <a:xfrm>
            <a:off x="1088136" y="1874520"/>
            <a:ext cx="640080" cy="960120"/>
          </a:xfrm>
          <a:prstGeom prst="rect">
            <a:avLst/>
          </a:prstGeom>
          <a:noFill/>
          <a:ln/>
        </p:spPr>
        <p:txBody>
          <a:bodyPr wrap="square" lIns="0" tIns="0" rIns="0" bIns="0" rtlCol="0" anchor="ctr"/>
          <a:lstStyle/>
          <a:p>
            <a:pPr indent="0" marL="0">
              <a:buNone/>
            </a:pPr>
            <a:r>
              <a:rPr lang="en-US" sz="2400" dirty="0">
                <a:solidFill>
                  <a:srgbClr val="8FB4E8"/>
                </a:solidFill>
              </a:rPr>
              <a:t>01</a:t>
            </a:r>
            <a:endParaRPr lang="en-US" sz="2400" dirty="0"/>
          </a:p>
        </p:txBody>
      </p:sp>
      <p:sp>
        <p:nvSpPr>
          <p:cNvPr id="7" name="Text 4"/>
          <p:cNvSpPr txBox="1"/>
          <p:nvPr/>
        </p:nvSpPr>
        <p:spPr>
          <a:xfrm>
            <a:off x="1819656" y="1965960"/>
            <a:ext cx="9283903" cy="411480"/>
          </a:xfrm>
          <a:prstGeom prst="rect">
            <a:avLst/>
          </a:prstGeom>
          <a:noFill/>
          <a:ln/>
        </p:spPr>
        <p:txBody>
          <a:bodyPr wrap="square" lIns="0" tIns="0" rIns="0" bIns="0" rtlCol="0" anchor="ctr"/>
          <a:lstStyle/>
          <a:p>
            <a:pPr indent="0" marL="0">
              <a:buNone/>
            </a:pPr>
            <a:r>
              <a:rPr lang="en-US" sz="1600" b="1" dirty="0">
                <a:solidFill>
                  <a:srgbClr val="F5F3EE"/>
                </a:solidFill>
              </a:rPr>
              <a:t>MBP-10 for about a dozen FOMC meetings to test the NQ tick-constraint explanation</a:t>
            </a:r>
            <a:endParaRPr lang="en-US" sz="1600" dirty="0"/>
          </a:p>
        </p:txBody>
      </p:sp>
      <p:sp>
        <p:nvSpPr>
          <p:cNvPr id="8" name="Text 5"/>
          <p:cNvSpPr txBox="1"/>
          <p:nvPr/>
        </p:nvSpPr>
        <p:spPr>
          <a:xfrm>
            <a:off x="1819656" y="2377440"/>
            <a:ext cx="9283903" cy="365760"/>
          </a:xfrm>
          <a:prstGeom prst="rect">
            <a:avLst/>
          </a:prstGeom>
          <a:noFill/>
          <a:ln/>
        </p:spPr>
        <p:txBody>
          <a:bodyPr wrap="square" lIns="0" tIns="0" rIns="0" bIns="0" rtlCol="0" anchor="ctr"/>
          <a:lstStyle/>
          <a:p>
            <a:pPr indent="0" marL="0">
              <a:buNone/>
            </a:pPr>
            <a:r>
              <a:rPr lang="en-US" sz="1200" dirty="0">
                <a:solidFill>
                  <a:srgbClr val="C9CFD8"/>
                </a:solidFill>
              </a:rPr>
              <a:t>Top-of-book size cannot show liquidity moving to wider prices; ten levels can</a:t>
            </a:r>
            <a:endParaRPr lang="en-US" sz="1200" dirty="0"/>
          </a:p>
        </p:txBody>
      </p:sp>
      <p:sp>
        <p:nvSpPr>
          <p:cNvPr id="9" name="card"/>
          <p:cNvSpPr/>
          <p:nvPr/>
        </p:nvSpPr>
        <p:spPr>
          <a:xfrm>
            <a:off x="813816" y="3063240"/>
            <a:ext cx="3338474" cy="1325880"/>
          </a:xfrm>
          <a:prstGeom prst="roundRect">
            <a:avLst>
              <a:gd name="adj" fmla="val 4138"/>
            </a:avLst>
          </a:prstGeom>
          <a:solidFill>
            <a:srgbClr val="FBFAF7"/>
          </a:solidFill>
          <a:ln w="9525">
            <a:solidFill>
              <a:srgbClr val="E3E1DC"/>
            </a:solidFill>
            <a:prstDash val="solid"/>
          </a:ln>
        </p:spPr>
      </p:sp>
      <p:sp>
        <p:nvSpPr>
          <p:cNvPr id="10" name="Text 7"/>
          <p:cNvSpPr txBox="1"/>
          <p:nvPr/>
        </p:nvSpPr>
        <p:spPr>
          <a:xfrm>
            <a:off x="1042416" y="3200400"/>
            <a:ext cx="548640" cy="274320"/>
          </a:xfrm>
          <a:prstGeom prst="rect">
            <a:avLst/>
          </a:prstGeom>
          <a:noFill/>
          <a:ln/>
        </p:spPr>
        <p:txBody>
          <a:bodyPr wrap="square" lIns="0" tIns="0" rIns="0" bIns="0" rtlCol="0" anchor="t"/>
          <a:lstStyle/>
          <a:p>
            <a:pPr indent="0" marL="0">
              <a:buNone/>
            </a:pPr>
            <a:r>
              <a:rPr lang="en-US" sz="1100" dirty="0">
                <a:solidFill>
                  <a:srgbClr val="5B6472"/>
                </a:solidFill>
              </a:rPr>
              <a:t>02</a:t>
            </a:r>
            <a:endParaRPr lang="en-US" sz="1100" dirty="0"/>
          </a:p>
        </p:txBody>
      </p:sp>
      <p:sp>
        <p:nvSpPr>
          <p:cNvPr id="11" name="Text 8"/>
          <p:cNvSpPr txBox="1"/>
          <p:nvPr/>
        </p:nvSpPr>
        <p:spPr>
          <a:xfrm>
            <a:off x="1042416" y="3474720"/>
            <a:ext cx="2881274" cy="320040"/>
          </a:xfrm>
          <a:prstGeom prst="rect">
            <a:avLst/>
          </a:prstGeom>
          <a:noFill/>
          <a:ln/>
        </p:spPr>
        <p:txBody>
          <a:bodyPr wrap="square" lIns="0" tIns="0" rIns="0" bIns="0" rtlCol="0" anchor="t"/>
          <a:lstStyle/>
          <a:p>
            <a:pPr indent="0" marL="0">
              <a:buNone/>
            </a:pPr>
            <a:r>
              <a:rPr lang="en-US" sz="1400" b="1" dirty="0">
                <a:solidFill>
                  <a:srgbClr val="16202E"/>
                </a:solidFill>
              </a:rPr>
              <a:t>Label unscheduled arrivals</a:t>
            </a:r>
            <a:endParaRPr lang="en-US" sz="1400" dirty="0"/>
          </a:p>
        </p:txBody>
      </p:sp>
      <p:sp>
        <p:nvSpPr>
          <p:cNvPr id="12" name="Text 9"/>
          <p:cNvSpPr txBox="1"/>
          <p:nvPr/>
        </p:nvSpPr>
        <p:spPr>
          <a:xfrm>
            <a:off x="1042416" y="3813048"/>
            <a:ext cx="2881274" cy="502920"/>
          </a:xfrm>
          <a:prstGeom prst="rect">
            <a:avLst/>
          </a:prstGeom>
          <a:noFill/>
          <a:ln/>
        </p:spPr>
        <p:txBody>
          <a:bodyPr wrap="square" lIns="0" tIns="0" rIns="0" bIns="0" rtlCol="0" anchor="t"/>
          <a:lstStyle/>
          <a:p>
            <a:pPr indent="0" marL="0">
              <a:buNone/>
            </a:pPr>
            <a:r>
              <a:rPr lang="en-US" sz="1150" dirty="0">
                <a:solidFill>
                  <a:srgbClr val="5B6472"/>
                </a:solidFill>
              </a:rPr>
              <a:t>Match the 107 price jumps to headlines before quoting single events</a:t>
            </a:r>
            <a:endParaRPr lang="en-US" sz="1150" dirty="0"/>
          </a:p>
        </p:txBody>
      </p:sp>
      <p:sp>
        <p:nvSpPr>
          <p:cNvPr id="13" name="card"/>
          <p:cNvSpPr/>
          <p:nvPr/>
        </p:nvSpPr>
        <p:spPr>
          <a:xfrm>
            <a:off x="4426610" y="3063240"/>
            <a:ext cx="3338474" cy="1325880"/>
          </a:xfrm>
          <a:prstGeom prst="roundRect">
            <a:avLst>
              <a:gd name="adj" fmla="val 4138"/>
            </a:avLst>
          </a:prstGeom>
          <a:solidFill>
            <a:srgbClr val="FBFAF7"/>
          </a:solidFill>
          <a:ln w="9525">
            <a:solidFill>
              <a:srgbClr val="E3E1DC"/>
            </a:solidFill>
            <a:prstDash val="solid"/>
          </a:ln>
        </p:spPr>
      </p:sp>
      <p:sp>
        <p:nvSpPr>
          <p:cNvPr id="14" name="Text 11"/>
          <p:cNvSpPr txBox="1"/>
          <p:nvPr/>
        </p:nvSpPr>
        <p:spPr>
          <a:xfrm>
            <a:off x="4655210" y="3200400"/>
            <a:ext cx="548640" cy="274320"/>
          </a:xfrm>
          <a:prstGeom prst="rect">
            <a:avLst/>
          </a:prstGeom>
          <a:noFill/>
          <a:ln/>
        </p:spPr>
        <p:txBody>
          <a:bodyPr wrap="square" lIns="0" tIns="0" rIns="0" bIns="0" rtlCol="0" anchor="t"/>
          <a:lstStyle/>
          <a:p>
            <a:pPr indent="0" marL="0">
              <a:buNone/>
            </a:pPr>
            <a:r>
              <a:rPr lang="en-US" sz="1100" dirty="0">
                <a:solidFill>
                  <a:srgbClr val="5B6472"/>
                </a:solidFill>
              </a:rPr>
              <a:t>03</a:t>
            </a:r>
            <a:endParaRPr lang="en-US" sz="1100" dirty="0"/>
          </a:p>
        </p:txBody>
      </p:sp>
      <p:sp>
        <p:nvSpPr>
          <p:cNvPr id="15" name="Text 12"/>
          <p:cNvSpPr txBox="1"/>
          <p:nvPr/>
        </p:nvSpPr>
        <p:spPr>
          <a:xfrm>
            <a:off x="4655210" y="3474720"/>
            <a:ext cx="2881274" cy="320040"/>
          </a:xfrm>
          <a:prstGeom prst="rect">
            <a:avLst/>
          </a:prstGeom>
          <a:noFill/>
          <a:ln/>
        </p:spPr>
        <p:txBody>
          <a:bodyPr wrap="square" lIns="0" tIns="0" rIns="0" bIns="0" rtlCol="0" anchor="t"/>
          <a:lstStyle/>
          <a:p>
            <a:pPr indent="0" marL="0">
              <a:buNone/>
            </a:pPr>
            <a:r>
              <a:rPr lang="en-US" sz="1400" b="1" dirty="0">
                <a:solidFill>
                  <a:srgbClr val="16202E"/>
                </a:solidFill>
              </a:rPr>
              <a:t>Calibrate H3 dispersion</a:t>
            </a:r>
            <a:endParaRPr lang="en-US" sz="1400" dirty="0"/>
          </a:p>
        </p:txBody>
      </p:sp>
      <p:sp>
        <p:nvSpPr>
          <p:cNvPr id="16" name="Text 13"/>
          <p:cNvSpPr txBox="1"/>
          <p:nvPr/>
        </p:nvSpPr>
        <p:spPr>
          <a:xfrm>
            <a:off x="4655210" y="3813048"/>
            <a:ext cx="2881274" cy="502920"/>
          </a:xfrm>
          <a:prstGeom prst="rect">
            <a:avLst/>
          </a:prstGeom>
          <a:noFill/>
          <a:ln/>
        </p:spPr>
        <p:txBody>
          <a:bodyPr wrap="square" lIns="0" tIns="0" rIns="0" bIns="0" rtlCol="0" anchor="t"/>
          <a:lstStyle/>
          <a:p>
            <a:pPr indent="0" marL="0">
              <a:buNone/>
            </a:pPr>
            <a:r>
              <a:rPr lang="en-US" sz="1150" dirty="0">
                <a:solidFill>
                  <a:srgbClr val="5B6472"/>
                </a:solidFill>
              </a:rPr>
              <a:t>ECOS forecast standard deviations as a check on the survey range</a:t>
            </a:r>
            <a:endParaRPr lang="en-US" sz="1150" dirty="0"/>
          </a:p>
        </p:txBody>
      </p:sp>
      <p:sp>
        <p:nvSpPr>
          <p:cNvPr id="17" name="card"/>
          <p:cNvSpPr/>
          <p:nvPr/>
        </p:nvSpPr>
        <p:spPr>
          <a:xfrm>
            <a:off x="8039405" y="3063240"/>
            <a:ext cx="3338474" cy="1325880"/>
          </a:xfrm>
          <a:prstGeom prst="roundRect">
            <a:avLst>
              <a:gd name="adj" fmla="val 4138"/>
            </a:avLst>
          </a:prstGeom>
          <a:solidFill>
            <a:srgbClr val="FBFAF7"/>
          </a:solidFill>
          <a:ln w="9525">
            <a:solidFill>
              <a:srgbClr val="E3E1DC"/>
            </a:solidFill>
            <a:prstDash val="solid"/>
          </a:ln>
        </p:spPr>
      </p:sp>
      <p:sp>
        <p:nvSpPr>
          <p:cNvPr id="18" name="Text 15"/>
          <p:cNvSpPr txBox="1"/>
          <p:nvPr/>
        </p:nvSpPr>
        <p:spPr>
          <a:xfrm>
            <a:off x="8268005" y="3200400"/>
            <a:ext cx="548640" cy="274320"/>
          </a:xfrm>
          <a:prstGeom prst="rect">
            <a:avLst/>
          </a:prstGeom>
          <a:noFill/>
          <a:ln/>
        </p:spPr>
        <p:txBody>
          <a:bodyPr wrap="square" lIns="0" tIns="0" rIns="0" bIns="0" rtlCol="0" anchor="t"/>
          <a:lstStyle/>
          <a:p>
            <a:pPr indent="0" marL="0">
              <a:buNone/>
            </a:pPr>
            <a:r>
              <a:rPr lang="en-US" sz="1100" dirty="0">
                <a:solidFill>
                  <a:srgbClr val="5B6472"/>
                </a:solidFill>
              </a:rPr>
              <a:t>04</a:t>
            </a:r>
            <a:endParaRPr lang="en-US" sz="1100" dirty="0"/>
          </a:p>
        </p:txBody>
      </p:sp>
      <p:sp>
        <p:nvSpPr>
          <p:cNvPr id="19" name="Text 16"/>
          <p:cNvSpPr txBox="1"/>
          <p:nvPr/>
        </p:nvSpPr>
        <p:spPr>
          <a:xfrm>
            <a:off x="8268005" y="3474720"/>
            <a:ext cx="2881274" cy="320040"/>
          </a:xfrm>
          <a:prstGeom prst="rect">
            <a:avLst/>
          </a:prstGeom>
          <a:noFill/>
          <a:ln/>
        </p:spPr>
        <p:txBody>
          <a:bodyPr wrap="square" lIns="0" tIns="0" rIns="0" bIns="0" rtlCol="0" anchor="t"/>
          <a:lstStyle/>
          <a:p>
            <a:pPr indent="0" marL="0">
              <a:buNone/>
            </a:pPr>
            <a:r>
              <a:rPr lang="en-US" sz="1400" b="1" dirty="0">
                <a:solidFill>
                  <a:srgbClr val="16202E"/>
                </a:solidFill>
              </a:rPr>
              <a:t>Replicate H3 forward</a:t>
            </a:r>
            <a:endParaRPr lang="en-US" sz="1400" dirty="0"/>
          </a:p>
        </p:txBody>
      </p:sp>
      <p:sp>
        <p:nvSpPr>
          <p:cNvPr id="20" name="Text 17"/>
          <p:cNvSpPr txBox="1"/>
          <p:nvPr/>
        </p:nvSpPr>
        <p:spPr>
          <a:xfrm>
            <a:off x="8268005" y="3813048"/>
            <a:ext cx="2881274" cy="502920"/>
          </a:xfrm>
          <a:prstGeom prst="rect">
            <a:avLst/>
          </a:prstGeom>
          <a:noFill/>
          <a:ln/>
        </p:spPr>
        <p:txBody>
          <a:bodyPr wrap="square" lIns="0" tIns="0" rIns="0" bIns="0" rtlCol="0" anchor="t"/>
          <a:lstStyle/>
          <a:p>
            <a:pPr indent="0" marL="0">
              <a:buNone/>
            </a:pPr>
            <a:r>
              <a:rPr lang="en-US" sz="1150" dirty="0">
                <a:solidFill>
                  <a:srgbClr val="5B6472"/>
                </a:solidFill>
              </a:rPr>
              <a:t>Use 2026–27 releases as the held-out sample</a:t>
            </a:r>
            <a:endParaRPr lang="en-US" sz="1150" dirty="0"/>
          </a:p>
        </p:txBody>
      </p:sp>
      <p:sp>
        <p:nvSpPr>
          <p:cNvPr id="21" name="card"/>
          <p:cNvSpPr/>
          <p:nvPr/>
        </p:nvSpPr>
        <p:spPr>
          <a:xfrm>
            <a:off x="813816" y="4617720"/>
            <a:ext cx="3338474" cy="1325880"/>
          </a:xfrm>
          <a:prstGeom prst="roundRect">
            <a:avLst>
              <a:gd name="adj" fmla="val 4138"/>
            </a:avLst>
          </a:prstGeom>
          <a:solidFill>
            <a:srgbClr val="FBFAF7"/>
          </a:solidFill>
          <a:ln w="9525">
            <a:solidFill>
              <a:srgbClr val="E3E1DC"/>
            </a:solidFill>
            <a:prstDash val="solid"/>
          </a:ln>
        </p:spPr>
      </p:sp>
      <p:sp>
        <p:nvSpPr>
          <p:cNvPr id="22" name="Text 19"/>
          <p:cNvSpPr txBox="1"/>
          <p:nvPr/>
        </p:nvSpPr>
        <p:spPr>
          <a:xfrm>
            <a:off x="1042416" y="4754880"/>
            <a:ext cx="548640" cy="274320"/>
          </a:xfrm>
          <a:prstGeom prst="rect">
            <a:avLst/>
          </a:prstGeom>
          <a:noFill/>
          <a:ln/>
        </p:spPr>
        <p:txBody>
          <a:bodyPr wrap="square" lIns="0" tIns="0" rIns="0" bIns="0" rtlCol="0" anchor="t"/>
          <a:lstStyle/>
          <a:p>
            <a:pPr indent="0" marL="0">
              <a:buNone/>
            </a:pPr>
            <a:r>
              <a:rPr lang="en-US" sz="1100" dirty="0">
                <a:solidFill>
                  <a:srgbClr val="5B6472"/>
                </a:solidFill>
              </a:rPr>
              <a:t>05</a:t>
            </a:r>
            <a:endParaRPr lang="en-US" sz="1100" dirty="0"/>
          </a:p>
        </p:txBody>
      </p:sp>
      <p:sp>
        <p:nvSpPr>
          <p:cNvPr id="23" name="Text 20"/>
          <p:cNvSpPr txBox="1"/>
          <p:nvPr/>
        </p:nvSpPr>
        <p:spPr>
          <a:xfrm>
            <a:off x="1042416" y="5029200"/>
            <a:ext cx="2881274" cy="320040"/>
          </a:xfrm>
          <a:prstGeom prst="rect">
            <a:avLst/>
          </a:prstGeom>
          <a:noFill/>
          <a:ln/>
        </p:spPr>
        <p:txBody>
          <a:bodyPr wrap="square" lIns="0" tIns="0" rIns="0" bIns="0" rtlCol="0" anchor="t"/>
          <a:lstStyle/>
          <a:p>
            <a:pPr indent="0" marL="0">
              <a:buNone/>
            </a:pPr>
            <a:r>
              <a:rPr lang="en-US" sz="1400" b="1" dirty="0">
                <a:solidFill>
                  <a:srgbClr val="16202E"/>
                </a:solidFill>
              </a:rPr>
              <a:t>Screen macro controls</a:t>
            </a:r>
            <a:endParaRPr lang="en-US" sz="1400" dirty="0"/>
          </a:p>
        </p:txBody>
      </p:sp>
      <p:sp>
        <p:nvSpPr>
          <p:cNvPr id="24" name="Text 21"/>
          <p:cNvSpPr txBox="1"/>
          <p:nvPr/>
        </p:nvSpPr>
        <p:spPr>
          <a:xfrm>
            <a:off x="1042416" y="5367528"/>
            <a:ext cx="2881274" cy="502920"/>
          </a:xfrm>
          <a:prstGeom prst="rect">
            <a:avLst/>
          </a:prstGeom>
          <a:noFill/>
          <a:ln/>
        </p:spPr>
        <p:txBody>
          <a:bodyPr wrap="square" lIns="0" tIns="0" rIns="0" bIns="0" rtlCol="0" anchor="t"/>
          <a:lstStyle/>
          <a:p>
            <a:pPr indent="0" marL="0">
              <a:buNone/>
            </a:pPr>
            <a:r>
              <a:rPr lang="en-US" sz="1150" dirty="0">
                <a:solidFill>
                  <a:srgbClr val="5B6472"/>
                </a:solidFill>
              </a:rPr>
              <a:t>Census and BEA calendars, in place of the volume-spike proxy</a:t>
            </a:r>
            <a:endParaRPr lang="en-US" sz="1150" dirty="0"/>
          </a:p>
        </p:txBody>
      </p:sp>
      <p:sp>
        <p:nvSpPr>
          <p:cNvPr id="25" name="card"/>
          <p:cNvSpPr/>
          <p:nvPr/>
        </p:nvSpPr>
        <p:spPr>
          <a:xfrm>
            <a:off x="4426610" y="4617720"/>
            <a:ext cx="3338474" cy="1325880"/>
          </a:xfrm>
          <a:prstGeom prst="roundRect">
            <a:avLst>
              <a:gd name="adj" fmla="val 4138"/>
            </a:avLst>
          </a:prstGeom>
          <a:solidFill>
            <a:srgbClr val="FBFAF7"/>
          </a:solidFill>
          <a:ln w="9525">
            <a:solidFill>
              <a:srgbClr val="E3E1DC"/>
            </a:solidFill>
            <a:prstDash val="solid"/>
          </a:ln>
        </p:spPr>
      </p:sp>
      <p:sp>
        <p:nvSpPr>
          <p:cNvPr id="26" name="Text 23"/>
          <p:cNvSpPr txBox="1"/>
          <p:nvPr/>
        </p:nvSpPr>
        <p:spPr>
          <a:xfrm>
            <a:off x="4655210" y="4754880"/>
            <a:ext cx="548640" cy="274320"/>
          </a:xfrm>
          <a:prstGeom prst="rect">
            <a:avLst/>
          </a:prstGeom>
          <a:noFill/>
          <a:ln/>
        </p:spPr>
        <p:txBody>
          <a:bodyPr wrap="square" lIns="0" tIns="0" rIns="0" bIns="0" rtlCol="0" anchor="t"/>
          <a:lstStyle/>
          <a:p>
            <a:pPr indent="0" marL="0">
              <a:buNone/>
            </a:pPr>
            <a:r>
              <a:rPr lang="en-US" sz="1100" dirty="0">
                <a:solidFill>
                  <a:srgbClr val="5B6472"/>
                </a:solidFill>
              </a:rPr>
              <a:t>06</a:t>
            </a:r>
            <a:endParaRPr lang="en-US" sz="1100" dirty="0"/>
          </a:p>
        </p:txBody>
      </p:sp>
      <p:sp>
        <p:nvSpPr>
          <p:cNvPr id="27" name="Text 24"/>
          <p:cNvSpPr txBox="1"/>
          <p:nvPr/>
        </p:nvSpPr>
        <p:spPr>
          <a:xfrm>
            <a:off x="4655210" y="5029200"/>
            <a:ext cx="2881274" cy="320040"/>
          </a:xfrm>
          <a:prstGeom prst="rect">
            <a:avLst/>
          </a:prstGeom>
          <a:noFill/>
          <a:ln/>
        </p:spPr>
        <p:txBody>
          <a:bodyPr wrap="square" lIns="0" tIns="0" rIns="0" bIns="0" rtlCol="0" anchor="t"/>
          <a:lstStyle/>
          <a:p>
            <a:pPr indent="0" marL="0">
              <a:buNone/>
            </a:pPr>
            <a:r>
              <a:rPr lang="en-US" sz="1400" b="1" dirty="0">
                <a:solidFill>
                  <a:srgbClr val="16202E"/>
                </a:solidFill>
              </a:rPr>
              <a:t>Unify FOMC control sets</a:t>
            </a:r>
            <a:endParaRPr lang="en-US" sz="1400" dirty="0"/>
          </a:p>
        </p:txBody>
      </p:sp>
      <p:sp>
        <p:nvSpPr>
          <p:cNvPr id="28" name="Text 25"/>
          <p:cNvSpPr txBox="1"/>
          <p:nvPr/>
        </p:nvSpPr>
        <p:spPr>
          <a:xfrm>
            <a:off x="4655210" y="5367528"/>
            <a:ext cx="2881274" cy="502920"/>
          </a:xfrm>
          <a:prstGeom prst="rect">
            <a:avLst/>
          </a:prstGeom>
          <a:noFill/>
          <a:ln/>
        </p:spPr>
        <p:txBody>
          <a:bodyPr wrap="square" lIns="0" tIns="0" rIns="0" bIns="0" rtlCol="0" anchor="t"/>
          <a:lstStyle/>
          <a:p>
            <a:pPr indent="0" marL="0">
              <a:buNone/>
            </a:pPr>
            <a:r>
              <a:rPr lang="en-US" sz="1150" dirty="0">
                <a:solidFill>
                  <a:srgbClr val="5B6472"/>
                </a:solidFill>
              </a:rPr>
              <a:t>One screened set of control afternoons for every pipeline</a:t>
            </a:r>
            <a:endParaRPr lang="en-US" sz="1150" dirty="0"/>
          </a:p>
        </p:txBody>
      </p:sp>
      <p:sp>
        <p:nvSpPr>
          <p:cNvPr id="29" name="card"/>
          <p:cNvSpPr/>
          <p:nvPr/>
        </p:nvSpPr>
        <p:spPr>
          <a:xfrm>
            <a:off x="8039405" y="4617720"/>
            <a:ext cx="3338474" cy="1325880"/>
          </a:xfrm>
          <a:prstGeom prst="roundRect">
            <a:avLst>
              <a:gd name="adj" fmla="val 4138"/>
            </a:avLst>
          </a:prstGeom>
          <a:solidFill>
            <a:srgbClr val="FBFAF7"/>
          </a:solidFill>
          <a:ln w="9525">
            <a:solidFill>
              <a:srgbClr val="E3E1DC"/>
            </a:solidFill>
            <a:prstDash val="solid"/>
          </a:ln>
        </p:spPr>
      </p:sp>
      <p:sp>
        <p:nvSpPr>
          <p:cNvPr id="30" name="Text 27"/>
          <p:cNvSpPr txBox="1"/>
          <p:nvPr/>
        </p:nvSpPr>
        <p:spPr>
          <a:xfrm>
            <a:off x="8268005" y="4754880"/>
            <a:ext cx="548640" cy="274320"/>
          </a:xfrm>
          <a:prstGeom prst="rect">
            <a:avLst/>
          </a:prstGeom>
          <a:noFill/>
          <a:ln/>
        </p:spPr>
        <p:txBody>
          <a:bodyPr wrap="square" lIns="0" tIns="0" rIns="0" bIns="0" rtlCol="0" anchor="t"/>
          <a:lstStyle/>
          <a:p>
            <a:pPr indent="0" marL="0">
              <a:buNone/>
            </a:pPr>
            <a:r>
              <a:rPr lang="en-US" sz="1100" dirty="0">
                <a:solidFill>
                  <a:srgbClr val="5B6472"/>
                </a:solidFill>
              </a:rPr>
              <a:t>07</a:t>
            </a:r>
            <a:endParaRPr lang="en-US" sz="1100" dirty="0"/>
          </a:p>
        </p:txBody>
      </p:sp>
      <p:sp>
        <p:nvSpPr>
          <p:cNvPr id="31" name="Text 28"/>
          <p:cNvSpPr txBox="1"/>
          <p:nvPr/>
        </p:nvSpPr>
        <p:spPr>
          <a:xfrm>
            <a:off x="8268005" y="5029200"/>
            <a:ext cx="2881274" cy="320040"/>
          </a:xfrm>
          <a:prstGeom prst="rect">
            <a:avLst/>
          </a:prstGeom>
          <a:noFill/>
          <a:ln/>
        </p:spPr>
        <p:txBody>
          <a:bodyPr wrap="square" lIns="0" tIns="0" rIns="0" bIns="0" rtlCol="0" anchor="t"/>
          <a:lstStyle/>
          <a:p>
            <a:pPr indent="0" marL="0">
              <a:buNone/>
            </a:pPr>
            <a:r>
              <a:rPr lang="en-US" sz="1400" b="1" dirty="0">
                <a:solidFill>
                  <a:srgbClr val="16202E"/>
                </a:solidFill>
              </a:rPr>
              <a:t>Rebuild the paper</a:t>
            </a:r>
            <a:endParaRPr lang="en-US" sz="1400" dirty="0"/>
          </a:p>
        </p:txBody>
      </p:sp>
      <p:sp>
        <p:nvSpPr>
          <p:cNvPr id="32" name="Text 29"/>
          <p:cNvSpPr txBox="1"/>
          <p:nvPr/>
        </p:nvSpPr>
        <p:spPr>
          <a:xfrm>
            <a:off x="8268005" y="5367528"/>
            <a:ext cx="2881274" cy="502920"/>
          </a:xfrm>
          <a:prstGeom prst="rect">
            <a:avLst/>
          </a:prstGeom>
          <a:noFill/>
          <a:ln/>
        </p:spPr>
        <p:txBody>
          <a:bodyPr wrap="square" lIns="0" tIns="0" rIns="0" bIns="0" rtlCol="0" anchor="t"/>
          <a:lstStyle/>
          <a:p>
            <a:pPr indent="0" marL="0">
              <a:buNone/>
            </a:pPr>
            <a:r>
              <a:rPr lang="en-US" sz="1150" dirty="0">
                <a:solidFill>
                  <a:srgbClr val="5B6472"/>
                </a:solidFill>
              </a:rPr>
              <a:t>Add steps 1, 5, 8 and H3 to the draft and the PDF</a:t>
            </a:r>
            <a:endParaRPr lang="en-US" sz="115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813816" y="2468880"/>
            <a:ext cx="9144000" cy="320040"/>
          </a:xfrm>
          <a:prstGeom prst="rect">
            <a:avLst/>
          </a:prstGeom>
          <a:noFill/>
          <a:ln/>
        </p:spPr>
        <p:txBody>
          <a:bodyPr wrap="square" lIns="0" tIns="0" rIns="0" bIns="0" rtlCol="0"/>
          <a:lstStyle/>
          <a:p>
            <a:pPr indent="0" marL="0">
              <a:buNone/>
            </a:pPr>
            <a:r>
              <a:rPr lang="en-US" sz="1200" b="1" dirty="0">
                <a:solidFill>
                  <a:srgbClr val="8FB4E8"/>
                </a:solidFill>
              </a:rPr>
              <a:t>APPENDIX</a:t>
            </a:r>
            <a:endParaRPr lang="en-US" sz="1200" dirty="0"/>
          </a:p>
        </p:txBody>
      </p:sp>
      <p:sp>
        <p:nvSpPr>
          <p:cNvPr id="3" name="Text 0"/>
          <p:cNvSpPr/>
          <p:nvPr>
            <p:ph idx="101" type="title" hasCustomPrompt="1"/>
          </p:nvPr>
        </p:nvSpPr>
        <p:spPr>
          <a:xfrm>
            <a:off x="813816" y="2834640"/>
            <a:ext cx="10058400" cy="914400"/>
          </a:xfrm>
          <a:prstGeom prst="rect">
            <a:avLst/>
          </a:prstGeom>
          <a:noFill/>
          <a:ln/>
        </p:spPr>
        <p:txBody>
          <a:bodyPr wrap="square" lIns="0" tIns="0" rIns="0" bIns="0" rtlCol="0" anchor="t"/>
          <a:lstStyle/>
          <a:p>
            <a:pPr algn="l" indent="0" marL="0">
              <a:buNone/>
            </a:pPr>
            <a:r>
              <a:rPr lang="en-US" sz="3600" b="1" dirty="0">
                <a:solidFill>
                  <a:srgbClr val="F5F3EE"/>
                </a:solidFill>
              </a:rPr>
              <a:t>Data, clocks and selection checks</a:t>
            </a:r>
            <a:endParaRPr lang="en-US" sz="3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APPENDIX · DATA</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1,701 Databento files, every request quoted at $0.00</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13816" y="1920240"/>
          <a:ext cx="10564063" cy="914400"/>
        </p:xfrm>
        <a:graphic>
          <a:graphicData uri="http://schemas.openxmlformats.org/drawingml/2006/table">
            <a:tbl>
              <a:tblPr/>
              <a:tblGrid>
                <a:gridCol w="2834640"/>
                <a:gridCol w="822960"/>
                <a:gridCol w="1097280"/>
                <a:gridCol w="5806440"/>
              </a:tblGrid>
              <a:tr h="502920">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Schema</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algn="r" indent="0" marL="0">
                        <a:buNone/>
                      </a:pPr>
                      <a:r>
                        <a:rPr lang="en-US" sz="1050" b="1" dirty="0">
                          <a:solidFill>
                            <a:srgbClr val="5B6472"/>
                          </a:solidFill>
                          <a:latin typeface="IBM Plex Sans" pitchFamily="34" charset="0"/>
                          <a:ea typeface="IBM Plex Sans" pitchFamily="34" charset="-122"/>
                          <a:cs typeface="IBM Plex Sans" pitchFamily="34" charset="-120"/>
                        </a:rPr>
                        <a:t>Files</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algn="r" indent="0" marL="0">
                        <a:buNone/>
                      </a:pPr>
                      <a:r>
                        <a:rPr lang="en-US" sz="1050" b="1" dirty="0">
                          <a:solidFill>
                            <a:srgbClr val="5B6472"/>
                          </a:solidFill>
                          <a:latin typeface="IBM Plex Sans" pitchFamily="34" charset="0"/>
                          <a:ea typeface="IBM Plex Sans" pitchFamily="34" charset="-122"/>
                          <a:cs typeface="IBM Plex Sans" pitchFamily="34" charset="-120"/>
                        </a:rPr>
                        <a:t>Size</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What</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r>
              <a:tr h="50292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MBP-1, every book update and trade</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r" indent="0" marL="0">
                        <a:buNone/>
                      </a:pPr>
                      <a:r>
                        <a:rPr lang="en-US" sz="1150" dirty="0">
                          <a:solidFill>
                            <a:srgbClr val="3A4453"/>
                          </a:solidFill>
                          <a:latin typeface="IBM Plex Sans" pitchFamily="34" charset="0"/>
                          <a:ea typeface="IBM Plex Sans" pitchFamily="34" charset="-122"/>
                          <a:cs typeface="IBM Plex Sans" pitchFamily="34" charset="-120"/>
                        </a:rPr>
                        <a:t>818</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r" indent="0" marL="0">
                        <a:buNone/>
                      </a:pPr>
                      <a:r>
                        <a:rPr lang="en-US" sz="1150" dirty="0">
                          <a:solidFill>
                            <a:srgbClr val="3A4453"/>
                          </a:solidFill>
                          <a:latin typeface="IBM Plex Sans" pitchFamily="34" charset="0"/>
                          <a:ea typeface="IBM Plex Sans" pitchFamily="34" charset="-122"/>
                          <a:cs typeface="IBM Plex Sans" pitchFamily="34" charset="-120"/>
                        </a:rPr>
                        <a:t>5.76 GB</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437 release mornings, 112 control mornings, 93 FOMC meetings, 176 control afternoons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50292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BBO, one second</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r" indent="0" marL="0">
                        <a:buNone/>
                      </a:pPr>
                      <a:r>
                        <a:rPr lang="en-US" sz="1150" dirty="0">
                          <a:solidFill>
                            <a:srgbClr val="3A4453"/>
                          </a:solidFill>
                          <a:latin typeface="IBM Plex Sans" pitchFamily="34" charset="0"/>
                          <a:ea typeface="IBM Plex Sans" pitchFamily="34" charset="-122"/>
                          <a:cs typeface="IBM Plex Sans" pitchFamily="34" charset="-120"/>
                        </a:rPr>
                        <a:t>774</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r" indent="0" marL="0">
                        <a:buNone/>
                      </a:pPr>
                      <a:r>
                        <a:rPr lang="en-US" sz="1150" dirty="0">
                          <a:solidFill>
                            <a:srgbClr val="3A4453"/>
                          </a:solidFill>
                          <a:latin typeface="IBM Plex Sans" pitchFamily="34" charset="0"/>
                          <a:ea typeface="IBM Plex Sans" pitchFamily="34" charset="-122"/>
                          <a:cs typeface="IBM Plex Sans" pitchFamily="34" charset="-120"/>
                        </a:rPr>
                        <a:t>0.28 GB</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269 FOMC and control afternoons; 505 unscheduled arrival and control windows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50292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One-minute bars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r" indent="0" marL="0">
                        <a:buNone/>
                      </a:pPr>
                      <a:r>
                        <a:rPr lang="en-US" sz="1150" dirty="0">
                          <a:solidFill>
                            <a:srgbClr val="3A4453"/>
                          </a:solidFill>
                          <a:latin typeface="IBM Plex Sans" pitchFamily="34" charset="0"/>
                          <a:ea typeface="IBM Plex Sans" pitchFamily="34" charset="-122"/>
                          <a:cs typeface="IBM Plex Sans" pitchFamily="34" charset="-120"/>
                        </a:rPr>
                        <a:t>16</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r" indent="0" marL="0">
                        <a:buNone/>
                      </a:pPr>
                      <a:r>
                        <a:rPr lang="en-US" sz="1150" dirty="0">
                          <a:solidFill>
                            <a:srgbClr val="3A4453"/>
                          </a:solidFill>
                          <a:latin typeface="IBM Plex Sans" pitchFamily="34" charset="0"/>
                          <a:ea typeface="IBM Plex Sans" pitchFamily="34" charset="-122"/>
                          <a:cs typeface="IBM Plex Sans" pitchFamily="34" charset="-120"/>
                        </a:rPr>
                        <a:t>0.17 GB</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ES, NQ, ZN 2015–2026: unscheduled scan and control-morning volume screen</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50292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Trades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r" indent="0" marL="0">
                        <a:buNone/>
                      </a:pPr>
                      <a:r>
                        <a:rPr lang="en-US" sz="1150" dirty="0">
                          <a:solidFill>
                            <a:srgbClr val="3A4453"/>
                          </a:solidFill>
                          <a:latin typeface="IBM Plex Sans" pitchFamily="34" charset="0"/>
                          <a:ea typeface="IBM Plex Sans" pitchFamily="34" charset="-122"/>
                          <a:cs typeface="IBM Plex Sans" pitchFamily="34" charset="-120"/>
                        </a:rPr>
                        <a:t>93</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r" indent="0" marL="0">
                        <a:buNone/>
                      </a:pPr>
                      <a:r>
                        <a:rPr lang="en-US" sz="1150" dirty="0">
                          <a:solidFill>
                            <a:srgbClr val="3A4453"/>
                          </a:solidFill>
                          <a:latin typeface="IBM Plex Sans" pitchFamily="34" charset="0"/>
                          <a:ea typeface="IBM Plex Sans" pitchFamily="34" charset="-122"/>
                          <a:cs typeface="IBM Plex Sans" pitchFamily="34" charset="-120"/>
                        </a:rPr>
                        <a:t>0.55 GB</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FOMC afternoons; volume columns of the one-second panel only</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bl>
          </a:graphicData>
        </a:graphic>
      </p:graphicFrame>
      <p:sp>
        <p:nvSpPr>
          <p:cNvPr id="6" name="caveat"/>
          <p:cNvSpPr/>
          <p:nvPr/>
        </p:nvSpPr>
        <p:spPr>
          <a:xfrm>
            <a:off x="813816" y="4754880"/>
            <a:ext cx="10564063" cy="777240"/>
          </a:xfrm>
          <a:prstGeom prst="rect">
            <a:avLst/>
          </a:prstGeom>
          <a:solidFill>
            <a:srgbClr val="EBE7DE"/>
          </a:solidFill>
          <a:ln/>
        </p:spPr>
      </p:sp>
      <p:sp>
        <p:nvSpPr>
          <p:cNvPr id="7" name="caveat-mark"/>
          <p:cNvSpPr/>
          <p:nvPr/>
        </p:nvSpPr>
        <p:spPr>
          <a:xfrm>
            <a:off x="813816" y="4754880"/>
            <a:ext cx="45720" cy="777240"/>
          </a:xfrm>
          <a:prstGeom prst="rect">
            <a:avLst/>
          </a:prstGeom>
          <a:solidFill>
            <a:srgbClr val="D98A4A"/>
          </a:solidFill>
          <a:ln/>
        </p:spPr>
      </p:sp>
      <p:sp>
        <p:nvSpPr>
          <p:cNvPr id="8" name="Text 4"/>
          <p:cNvSpPr txBox="1"/>
          <p:nvPr/>
        </p:nvSpPr>
        <p:spPr>
          <a:xfrm>
            <a:off x="1088136" y="4754880"/>
            <a:ext cx="10106863" cy="777240"/>
          </a:xfrm>
          <a:prstGeom prst="rect">
            <a:avLst/>
          </a:prstGeom>
          <a:noFill/>
          <a:ln/>
        </p:spPr>
        <p:txBody>
          <a:bodyPr wrap="square" lIns="0" tIns="0" rIns="0" bIns="0" rtlCol="0" anchor="ctr"/>
          <a:lstStyle/>
          <a:p>
            <a:pPr indent="0" marL="0">
              <a:buNone/>
            </a:pPr>
            <a:r>
              <a:rPr lang="en-US" sz="1300" b="1" dirty="0">
                <a:solidFill>
                  <a:srgbClr val="16202E"/>
                </a:solidFill>
              </a:rPr>
              <a:t>Excluded everywhere: </a:t>
            </a:r>
            <a:pPr indent="0" marL="0">
              <a:buNone/>
            </a:pPr>
            <a:r>
              <a:rPr lang="en-US" sz="1300" dirty="0">
                <a:solidFill>
                  <a:srgbClr val="16202E"/>
                </a:solidFill>
              </a:rPr>
              <a:t>vendor-degraded days (2024-09-18 and 2025-09-17 FOMC, 2026-04-10 CPI, two 2019 PPI dates, two control afternoons), except the step 1 development sample, which includes 17 Sept 2025.</a:t>
            </a:r>
            <a:endParaRPr lang="en-US" sz="130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813816" y="841248"/>
            <a:ext cx="9144000" cy="274320"/>
          </a:xfrm>
          <a:prstGeom prst="rect">
            <a:avLst/>
          </a:prstGeom>
          <a:noFill/>
          <a:ln/>
        </p:spPr>
        <p:txBody>
          <a:bodyPr wrap="square" lIns="0" tIns="0" rIns="0" bIns="0" rtlCol="0"/>
          <a:lstStyle/>
          <a:p>
            <a:pPr indent="0" marL="0">
              <a:buNone/>
            </a:pPr>
            <a:r>
              <a:rPr lang="en-US" sz="1100" b="1" dirty="0">
                <a:solidFill>
                  <a:srgbClr val="2B5C9E"/>
                </a:solidFill>
              </a:rPr>
              <a:t>APPENDIX · SELECTION</a:t>
            </a:r>
            <a:endParaRPr lang="en-US" sz="1100" dirty="0"/>
          </a:p>
        </p:txBody>
      </p:sp>
      <p:sp>
        <p:nvSpPr>
          <p:cNvPr id="3" name="Text 0"/>
          <p:cNvSpPr/>
          <p:nvPr>
            <p:ph idx="101" type="title" hasCustomPrompt="1"/>
          </p:nvPr>
        </p:nvSpPr>
        <p:spPr>
          <a:xfrm>
            <a:off x="813816" y="1115568"/>
            <a:ext cx="10564063" cy="548640"/>
          </a:xfrm>
          <a:prstGeom prst="rect">
            <a:avLst/>
          </a:prstGeom>
          <a:noFill/>
          <a:ln/>
        </p:spPr>
        <p:txBody>
          <a:bodyPr wrap="square" lIns="0" tIns="0" rIns="0" bIns="0" rtlCol="0" anchor="ctr"/>
          <a:lstStyle/>
          <a:p>
            <a:pPr algn="l" indent="0" marL="0">
              <a:buNone/>
            </a:pPr>
            <a:r>
              <a:rPr lang="en-US" sz="2800" b="1" dirty="0">
                <a:solidFill>
                  <a:srgbClr val="16202E"/>
                </a:solidFill>
              </a:rPr>
              <a:t>A trade often comes before the first quote revision</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13816" y="1920240"/>
          <a:ext cx="10564063" cy="914400"/>
        </p:xfrm>
        <a:graphic>
          <a:graphicData uri="http://schemas.openxmlformats.org/drawingml/2006/table">
            <a:tbl>
              <a:tblPr/>
              <a:tblGrid>
                <a:gridCol w="2743200"/>
                <a:gridCol w="2606040"/>
                <a:gridCol w="2606040"/>
                <a:gridCol w="2606040"/>
              </a:tblGrid>
              <a:tr h="502920">
                <a:tc>
                  <a:txBody>
                    <a:bodyPr/>
                    <a:lstStyle/>
                    <a:p>
                      <a:pPr indent="0" marL="0">
                        <a:buNone/>
                      </a:pPr>
                      <a:r>
                        <a:rPr lang="en-US" sz="1050" b="1" dirty="0">
                          <a:solidFill>
                            <a:srgbClr val="5B6472"/>
                          </a:solidFill>
                          <a:latin typeface="IBM Plex Sans" pitchFamily="34" charset="0"/>
                          <a:ea typeface="IBM Plex Sans" pitchFamily="34" charset="-122"/>
                          <a:cs typeface="IBM Plex Sans" pitchFamily="34" charset="-120"/>
                        </a:rPr>
                        <a:t>2015–2023, ES / NQ / ZN</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algn="ctr" indent="0" marL="0">
                        <a:buNone/>
                      </a:pPr>
                      <a:r>
                        <a:rPr lang="en-US" sz="1050" b="1" dirty="0">
                          <a:solidFill>
                            <a:srgbClr val="5B6472"/>
                          </a:solidFill>
                          <a:latin typeface="IBM Plex Sans" pitchFamily="34" charset="0"/>
                          <a:ea typeface="IBM Plex Sans" pitchFamily="34" charset="-122"/>
                          <a:cs typeface="IBM Plex Sans" pitchFamily="34" charset="-120"/>
                        </a:rPr>
                        <a:t>Event</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algn="ctr" indent="0" marL="0">
                        <a:buNone/>
                      </a:pPr>
                      <a:r>
                        <a:rPr lang="en-US" sz="1050" b="1" dirty="0">
                          <a:solidFill>
                            <a:srgbClr val="5B6472"/>
                          </a:solidFill>
                          <a:latin typeface="IBM Plex Sans" pitchFamily="34" charset="0"/>
                          <a:ea typeface="IBM Plex Sans" pitchFamily="34" charset="-122"/>
                          <a:cs typeface="IBM Plex Sans" pitchFamily="34" charset="-120"/>
                        </a:rPr>
                        <a:t>Pseudo clock</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c>
                  <a:txBody>
                    <a:bodyPr/>
                    <a:lstStyle/>
                    <a:p>
                      <a:pPr algn="ctr" indent="0" marL="0">
                        <a:buNone/>
                      </a:pPr>
                      <a:r>
                        <a:rPr lang="en-US" sz="1050" b="1" dirty="0">
                          <a:solidFill>
                            <a:srgbClr val="5B6472"/>
                          </a:solidFill>
                          <a:latin typeface="IBM Plex Sans" pitchFamily="34" charset="0"/>
                          <a:ea typeface="IBM Plex Sans" pitchFamily="34" charset="-122"/>
                          <a:cs typeface="IBM Plex Sans" pitchFamily="34" charset="-120"/>
                        </a:rPr>
                        <a:t>Control day</a:t>
                      </a:r>
                      <a:endParaRPr lang="en-US" sz="10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C4C2BE"/>
                      </a:solidFill>
                      <a:prstDash val="solid"/>
                      <a:round/>
                      <a:headEnd type="none" w="med" len="med"/>
                      <a:tailEnd type="none" w="med" len="med"/>
                    </a:lnB>
                    <a:solidFill>
                      <a:srgbClr val="EBE7DE"/>
                    </a:solidFill>
                  </a:tcPr>
                </a:tc>
              </a:tr>
              <a:tr h="50292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Scalar (CPI, PPI)</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32% / 36% / 24%</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57% / 42% / 4%</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30% / 17% / 13%</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50292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Jobs report</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30% / 31% / 34%</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53% / 46% / 6%</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same control days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50292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FOMC statement</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b="1" dirty="0">
                          <a:solidFill>
                            <a:srgbClr val="B85D1C"/>
                          </a:solidFill>
                          <a:latin typeface="IBM Plex Sans" pitchFamily="34" charset="0"/>
                          <a:ea typeface="IBM Plex Sans" pitchFamily="34" charset="-122"/>
                          <a:cs typeface="IBM Plex Sans" pitchFamily="34" charset="-120"/>
                        </a:rPr>
                        <a:t>42% / 52% / 41%</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28% / 30% / 8%</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22% / 12% / 18%</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r h="502920">
                <a:tc>
                  <a:txBody>
                    <a:bodyPr/>
                    <a:lstStyle/>
                    <a:p>
                      <a:pPr indent="0" marL="0">
                        <a:buNone/>
                      </a:pPr>
                      <a:r>
                        <a:rPr lang="en-US" sz="1150" dirty="0">
                          <a:solidFill>
                            <a:srgbClr val="3A4453"/>
                          </a:solidFill>
                          <a:latin typeface="IBM Plex Sans" pitchFamily="34" charset="0"/>
                          <a:ea typeface="IBM Plex Sans" pitchFamily="34" charset="-122"/>
                          <a:cs typeface="IBM Plex Sans" pitchFamily="34" charset="-120"/>
                        </a:rPr>
                        <a:t>Press conference</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15% / 15% / 13%</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11% / 15% / 7%</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c>
                  <a:txBody>
                    <a:bodyPr/>
                    <a:lstStyle/>
                    <a:p>
                      <a:pPr algn="ctr" indent="0" marL="0">
                        <a:buNone/>
                      </a:pPr>
                      <a:r>
                        <a:rPr lang="en-US" sz="1150" dirty="0">
                          <a:solidFill>
                            <a:srgbClr val="3A4453"/>
                          </a:solidFill>
                          <a:latin typeface="IBM Plex Sans" pitchFamily="34" charset="0"/>
                          <a:ea typeface="IBM Plex Sans" pitchFamily="34" charset="-122"/>
                          <a:cs typeface="IBM Plex Sans" pitchFamily="34" charset="-120"/>
                        </a:rPr>
                        <a:t>same control days</a:t>
                      </a:r>
                      <a:endParaRPr lang="en-US" sz="1150" dirty="0">
                        <a:latin typeface="IBM Plex Sans" charset="0"/>
                        <a:ea typeface="IBM Plex Sans" charset="0"/>
                        <a:cs typeface="IBM Plex Sans" charset="0"/>
                      </a:endParaRPr>
                    </a:p>
                  </a:txBody>
                  <a:tcPr marL="73152" marR="73152" marT="45720" marB="45720" anchor="ctr">
                    <a:lnL w="0" cap="flat" cmpd="sng" algn="ctr">
                      <a:noFill/>
                    </a:lnL>
                    <a:lnR w="0" cap="flat" cmpd="sng" algn="ctr">
                      <a:noFill/>
                    </a:lnR>
                    <a:lnT w="0" cap="flat" cmpd="sng" algn="ctr">
                      <a:noFill/>
                    </a:lnT>
                    <a:lnB w="6350" cap="flat" cmpd="sng" algn="ctr">
                      <a:solidFill>
                        <a:srgbClr val="E3E1DC"/>
                      </a:solidFill>
                      <a:prstDash val="solid"/>
                      <a:round/>
                      <a:headEnd type="none" w="med" len="med"/>
                      <a:tailEnd type="none" w="med" len="med"/>
                    </a:lnB>
                  </a:tcPr>
                </a:tc>
              </a:tr>
            </a:tbl>
          </a:graphicData>
        </a:graphic>
      </p:graphicFrame>
      <p:sp>
        <p:nvSpPr>
          <p:cNvPr id="6" name="card"/>
          <p:cNvSpPr/>
          <p:nvPr/>
        </p:nvSpPr>
        <p:spPr>
          <a:xfrm>
            <a:off x="813816" y="4572000"/>
            <a:ext cx="5144872" cy="1325880"/>
          </a:xfrm>
          <a:prstGeom prst="roundRect">
            <a:avLst>
              <a:gd name="adj" fmla="val 4138"/>
            </a:avLst>
          </a:prstGeom>
          <a:solidFill>
            <a:srgbClr val="FBFAF7"/>
          </a:solidFill>
          <a:ln w="9525">
            <a:solidFill>
              <a:srgbClr val="E3E1DC"/>
            </a:solidFill>
            <a:prstDash val="solid"/>
          </a:ln>
        </p:spPr>
      </p:sp>
      <p:sp>
        <p:nvSpPr>
          <p:cNvPr id="7" name="Text 3"/>
          <p:cNvSpPr txBox="1"/>
          <p:nvPr/>
        </p:nvSpPr>
        <p:spPr>
          <a:xfrm>
            <a:off x="1042416" y="4709160"/>
            <a:ext cx="4687672" cy="256032"/>
          </a:xfrm>
          <a:prstGeom prst="rect">
            <a:avLst/>
          </a:prstGeom>
          <a:noFill/>
          <a:ln/>
        </p:spPr>
        <p:txBody>
          <a:bodyPr wrap="square" lIns="0" tIns="0" rIns="0" bIns="0" rtlCol="0" anchor="t"/>
          <a:lstStyle/>
          <a:p>
            <a:pPr indent="0" marL="0">
              <a:buNone/>
            </a:pPr>
            <a:r>
              <a:rPr lang="en-US" sz="1050" b="1" dirty="0">
                <a:solidFill>
                  <a:srgbClr val="2B5C9E"/>
                </a:solidFill>
              </a:rPr>
              <a:t>CLOCKS</a:t>
            </a:r>
            <a:endParaRPr lang="en-US" sz="1050" dirty="0"/>
          </a:p>
        </p:txBody>
      </p:sp>
      <p:sp>
        <p:nvSpPr>
          <p:cNvPr id="8" name="Text 4"/>
          <p:cNvSpPr txBox="1"/>
          <p:nvPr/>
        </p:nvSpPr>
        <p:spPr>
          <a:xfrm>
            <a:off x="1042416" y="4983480"/>
            <a:ext cx="4687672" cy="868680"/>
          </a:xfrm>
          <a:prstGeom prst="rect">
            <a:avLst/>
          </a:prstGeom>
          <a:noFill/>
          <a:ln/>
        </p:spPr>
        <p:txBody>
          <a:bodyPr wrap="square" lIns="0" tIns="0" rIns="0" bIns="0" rtlCol="0" anchor="t"/>
          <a:lstStyle/>
          <a:p>
            <a:pPr indent="0" marL="0">
              <a:buNone/>
            </a:pPr>
            <a:r>
              <a:rPr lang="en-US" sz="1150" dirty="0">
                <a:solidFill>
                  <a:srgbClr val="3A4453"/>
                </a:solidFill>
              </a:rPr>
              <a:t>Exchange timestamps (ts_event) throughout. The receive clock ran exactly 1 s ahead in 31 files (May–Aug 2018) and is corrected file by file.</a:t>
            </a:r>
            <a:endParaRPr lang="en-US" sz="1150" dirty="0"/>
          </a:p>
        </p:txBody>
      </p:sp>
      <p:sp>
        <p:nvSpPr>
          <p:cNvPr id="9" name="card"/>
          <p:cNvSpPr/>
          <p:nvPr/>
        </p:nvSpPr>
        <p:spPr>
          <a:xfrm>
            <a:off x="6233008" y="4572000"/>
            <a:ext cx="5144872" cy="1325880"/>
          </a:xfrm>
          <a:prstGeom prst="roundRect">
            <a:avLst>
              <a:gd name="adj" fmla="val 4138"/>
            </a:avLst>
          </a:prstGeom>
          <a:solidFill>
            <a:srgbClr val="FBFAF7"/>
          </a:solidFill>
          <a:ln w="9525">
            <a:solidFill>
              <a:srgbClr val="E3E1DC"/>
            </a:solidFill>
            <a:prstDash val="solid"/>
          </a:ln>
        </p:spPr>
      </p:sp>
      <p:sp>
        <p:nvSpPr>
          <p:cNvPr id="10" name="Text 6"/>
          <p:cNvSpPr txBox="1"/>
          <p:nvPr/>
        </p:nvSpPr>
        <p:spPr>
          <a:xfrm>
            <a:off x="6461608" y="4709160"/>
            <a:ext cx="4687672" cy="256032"/>
          </a:xfrm>
          <a:prstGeom prst="rect">
            <a:avLst/>
          </a:prstGeom>
          <a:noFill/>
          <a:ln/>
        </p:spPr>
        <p:txBody>
          <a:bodyPr wrap="square" lIns="0" tIns="0" rIns="0" bIns="0" rtlCol="0" anchor="t"/>
          <a:lstStyle/>
          <a:p>
            <a:pPr indent="0" marL="0">
              <a:buNone/>
            </a:pPr>
            <a:r>
              <a:rPr lang="en-US" sz="1050" b="1" dirty="0">
                <a:solidFill>
                  <a:srgbClr val="2B5C9E"/>
                </a:solidFill>
              </a:rPr>
              <a:t>FEED FORMAT</a:t>
            </a:r>
            <a:endParaRPr lang="en-US" sz="1050" dirty="0"/>
          </a:p>
        </p:txBody>
      </p:sp>
      <p:sp>
        <p:nvSpPr>
          <p:cNvPr id="11" name="Text 7"/>
          <p:cNvSpPr txBox="1"/>
          <p:nvPr/>
        </p:nvSpPr>
        <p:spPr>
          <a:xfrm>
            <a:off x="6461608" y="4983480"/>
            <a:ext cx="4687672" cy="868680"/>
          </a:xfrm>
          <a:prstGeom prst="rect">
            <a:avLst/>
          </a:prstGeom>
          <a:noFill/>
          <a:ln/>
        </p:spPr>
        <p:txBody>
          <a:bodyPr wrap="square" lIns="0" tIns="0" rIns="0" bIns="0" rtlCol="0" anchor="t"/>
          <a:lstStyle/>
          <a:p>
            <a:pPr indent="0" marL="0">
              <a:buNone/>
            </a:pPr>
            <a:r>
              <a:rPr lang="en-US" sz="1150" dirty="0">
                <a:solidFill>
                  <a:srgbClr val="3A4453"/>
                </a:solidFill>
              </a:rPr>
              <a:t>Millisecond stamps to Nov 2015; trade and book update 15–40 µs apart to May 2017; same timestamp after. Handled by the attribution rule.</a:t>
            </a:r>
            <a:endParaRPr lang="en-US" sz="1150" dirty="0"/>
          </a:p>
        </p:txBody>
      </p:sp>
      <p:sp>
        <p:nvSpPr>
          <p:cNvPr id="25" name="Slide Number Placeholder 0"/>
          <p:cNvSpPr>
            <a:spLocks noGrp="1"/>
          </p:cNvSpPr>
          <p:nvPr>
            <p:ph type="sldNum" sz="quarter" idx="4294967295"/>
          </p:nvPr>
        </p:nvSpPr>
        <p:spPr>
          <a:xfrm>
            <a:off x="10829239" y="626364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5B6472"/>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OMC Price Discovery">
  <a:themeElements>
    <a:clrScheme name="FOMC Price Discovery">
      <a:dk1>
        <a:srgbClr val="16202E"/>
      </a:dk1>
      <a:lt1>
        <a:srgbClr val="FFFFFF"/>
      </a:lt1>
      <a:dk2>
        <a:srgbClr val="3A4453"/>
      </a:dk2>
      <a:lt2>
        <a:srgbClr val="F5F3EE"/>
      </a:lt2>
      <a:accent1>
        <a:srgbClr val="2B5C9E"/>
      </a:accent1>
      <a:accent2>
        <a:srgbClr val="B85D1C"/>
      </a:accent2>
      <a:accent3>
        <a:srgbClr val="5B6472"/>
      </a:accent3>
      <a:accent4>
        <a:srgbClr val="C4C2BE"/>
      </a:accent4>
      <a:accent5>
        <a:srgbClr val="D98A4A"/>
      </a:accent5>
      <a:accent6>
        <a:srgbClr val="8FB4E8"/>
      </a:accent6>
      <a:hlink>
        <a:srgbClr val="2B5C9E"/>
      </a:hlink>
      <a:folHlink>
        <a:srgbClr val="5B6472"/>
      </a:folHlink>
    </a:clrScheme>
    <a:fontScheme name="FOMC Price Discovery">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FOMC Price Discovery: Results Update</dc:title>
  <dc:subject>PptxGenJS Presentation</dc:subject>
  <dc:creator>Charishma, Giancarlo, Shivesh</dc:creator>
  <cp:lastModifiedBy>Charishma, Giancarlo, Shivesh</cp:lastModifiedBy>
  <cp:revision>1</cp:revision>
  <dcterms:created xsi:type="dcterms:W3CDTF">2026-10-07T19:17:07Z</dcterms:created>
  <dcterms:modified xsi:type="dcterms:W3CDTF">2026-10-07T19:17:07Z</dcterms:modified>
</cp:coreProperties>
</file>